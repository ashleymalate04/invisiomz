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66DF3876-6C3F-91D7-3DE4-48DD7CBFF54B}">
          <p14:sldIdLst>
            <p14:sldId id="256"/>
          </p14:sldIdLst>
        </p14:section>
        <p14:section name="Introdução" id="{10D63251-FB96-B9EF-3DA5-4DD6D6880871}">
          <p14:sldIdLst>
            <p14:sldId id="257"/>
          </p14:sldIdLst>
        </p14:section>
        <p14:section name="Ferramentas" id="{095FD3AA-8AFE-4940-3E70-DDDB93C772F8}">
          <p14:sldIdLst>
            <p14:sldId id="258"/>
          </p14:sldIdLst>
        </p14:section>
        <p14:section name="Estrutura" id="{06D70DB1-2ACE-6AAC-EC24-0D48D7983767}">
          <p14:sldIdLst>
            <p14:sldId id="259"/>
            <p14:sldId id="260"/>
          </p14:sldIdLst>
        </p14:section>
        <p14:section name="Funcionamento" id="{99E6FAF4-16EE-60C6-5613-E1B8C2964FA3}">
          <p14:sldIdLst>
            <p14:sldId id="261"/>
          </p14:sldIdLst>
        </p14:section>
        <p14:section name="Qualidade" id="{4215976B-981C-CD47-D968-FA736FF48677}">
          <p14:sldIdLst>
            <p14:sldId id="266"/>
          </p14:sldIdLst>
        </p14:section>
        <p14:section name="Conclusão" id="{C6F86097-5518-8ECD-DE27-E6F0A1846FB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836" autoAdjust="0"/>
  </p:normalViewPr>
  <p:slideViewPr>
    <p:cSldViewPr snapToGrid="0" snapToObjects="1">
      <p:cViewPr varScale="1">
        <p:scale>
          <a:sx n="54" d="100"/>
          <a:sy n="54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73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tema: esteganografia, a arte de esconder que uma mensagem existe. O nosso sistema chama-se InvisioMZ. A frase resume a ideia: a imagem final parece uma fotografia normal, mas transporta dados cifrados. Apresentam: Ashley Malate e Marlon Nhantumbo.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ideias diferentes. A esteganografia esconde a existência da mensagem; a criptografia esconde o conteúdo. Sozinha, a esteganografia falha se alguém descobrir o método; sozinha, a criptografia chama a atenção. Por isso o InvisioMZ faz as duas: primeiro cifra, depois esconde o resultado cifrado na imagem.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Frontend: React com TypeScript, montado com Vite e estilizado com Tailwind. Backend: Python com FastAPI; o Pillow e o NumPy tratam dos píxeis e a biblioteca cryptography faz a parte criptográfica (AES-256-GCM, Scrypt e HKDF). Dados: o Supabase dá-nos login, base de dados PostgreSQL com RLS e armazenamento privado; em desenvolvimento corre localmente em Docker. Qualidade: 149 testes no backend, 66 no frontend, lint e verificação de tipos, tudo automatizado no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camadas. O navegador corre a aplicação React. Comunica por HTTPS com a API em FastAPI, que faz todo o trabalho pesado. O Supabase guarda as contas, os metadados do histórico (protegidos por RLS) e, se o utilizador quiser, o PNG final num armazenamento privado. A API valida o JWT de cada pedido. Dentro da API há quatro módulos: crypto, steganography, bundle e services. Ponto importante: a senha e o conteúdo em claro só existem em memória durante 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backend está dividido por responsabilidade: api tem as rotas; crypto a derivação de chaves e a cifra; steganography o algoritmo LSB e o cabeçalho; bundle empacota mensagem e ficheiros num ZIP com SHA-256; services junta tudo em fluxos completos; core trata da configuração e segurança. No frontend, cada página é um ficheiro em pages. A pasta supabase tem as tabelas e as regras RLS; docs tem o formato binário, o modelo de ameaça e os resultados dos testes.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fluxo que o utilizador vê no ecrã Ocultar. 1) Escolhe a imagem e o conteúdo. 2) A senha passa pelo Scrypt e dá uma chave de 256 bits. 3) O conteúdo é cifrado com AES-256-GCM, que também autentica. 4) Os bits cifrados são espalhados pelas cores dos píxeis. 5) O utilizador descarrega um PNG. Antes de devolver, o servidor extrai de novo para garantir que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Segurança: a senha nunca é guardada; o Scrypt torna cada tentativa cara; o RLS do Supabase garante que um utilizador não vê os dados de outro (testado contra um Supabase real); os uploads têm limites e o pacote ZIP usa nomes fixos e não comprime, o que impede Zip Slip e zip bombs. Testes: 149 no backend, incluindo integração com Supabase, e 66 no frontend, sem falhas.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 Se houver tempo, fazer a demonstração ao vivo: ocultar uma mensagem numa fotografia, extrair com a senha certa e mostrar o erro com a senha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A12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InvisioM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InvisioMZ · Esteganografia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A12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InvisioM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B79D"/>
                </a:solidFill>
              </a:rPr>
              <a:t>InvisioMZ · Esteganografia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F28A2E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8EE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C9B7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xel-1"/>
          <p:cNvSpPr/>
          <p:nvPr/>
        </p:nvSpPr>
        <p:spPr>
          <a:xfrm>
            <a:off x="10378440" y="4800600"/>
            <a:ext cx="201168" cy="20116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" name="pixel-2"/>
          <p:cNvSpPr/>
          <p:nvPr/>
        </p:nvSpPr>
        <p:spPr>
          <a:xfrm>
            <a:off x="10652760" y="4800600"/>
            <a:ext cx="201168" cy="201168"/>
          </a:xfrm>
          <a:prstGeom prst="rect">
            <a:avLst/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4" name="pixel-3"/>
          <p:cNvSpPr/>
          <p:nvPr/>
        </p:nvSpPr>
        <p:spPr>
          <a:xfrm>
            <a:off x="11201400" y="4800600"/>
            <a:ext cx="201168" cy="201168"/>
          </a:xfrm>
          <a:prstGeom prst="rect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pixel-4"/>
          <p:cNvSpPr/>
          <p:nvPr/>
        </p:nvSpPr>
        <p:spPr>
          <a:xfrm>
            <a:off x="10378440" y="5074920"/>
            <a:ext cx="201168" cy="201168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6" name="pixel-5"/>
          <p:cNvSpPr/>
          <p:nvPr/>
        </p:nvSpPr>
        <p:spPr>
          <a:xfrm>
            <a:off x="10927080" y="5074920"/>
            <a:ext cx="201168" cy="201168"/>
          </a:xfrm>
          <a:prstGeom prst="rect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7" name="pixel-6"/>
          <p:cNvSpPr/>
          <p:nvPr/>
        </p:nvSpPr>
        <p:spPr>
          <a:xfrm>
            <a:off x="11201400" y="5074920"/>
            <a:ext cx="201168" cy="201168"/>
          </a:xfrm>
          <a:prstGeom prst="rect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8" name="pixel-7"/>
          <p:cNvSpPr/>
          <p:nvPr/>
        </p:nvSpPr>
        <p:spPr>
          <a:xfrm>
            <a:off x="10652760" y="5349240"/>
            <a:ext cx="201168" cy="201168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9" name="pixel-8"/>
          <p:cNvSpPr/>
          <p:nvPr/>
        </p:nvSpPr>
        <p:spPr>
          <a:xfrm>
            <a:off x="10927080" y="5349240"/>
            <a:ext cx="201168" cy="201168"/>
          </a:xfrm>
          <a:prstGeom prst="rect">
            <a:avLst/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10" name="pixel-9"/>
          <p:cNvSpPr/>
          <p:nvPr/>
        </p:nvSpPr>
        <p:spPr>
          <a:xfrm>
            <a:off x="11475720" y="5349240"/>
            <a:ext cx="201168" cy="201168"/>
          </a:xfrm>
          <a:prstGeom prst="rect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1" name="pixel-10"/>
          <p:cNvSpPr/>
          <p:nvPr/>
        </p:nvSpPr>
        <p:spPr>
          <a:xfrm>
            <a:off x="10378440" y="5623560"/>
            <a:ext cx="201168" cy="201168"/>
          </a:xfrm>
          <a:prstGeom prst="rect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2" name="pixel-11"/>
          <p:cNvSpPr/>
          <p:nvPr/>
        </p:nvSpPr>
        <p:spPr>
          <a:xfrm>
            <a:off x="11201400" y="5623560"/>
            <a:ext cx="201168" cy="201168"/>
          </a:xfrm>
          <a:prstGeom prst="rect">
            <a:avLst/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13" name="pixel-12"/>
          <p:cNvSpPr/>
          <p:nvPr/>
        </p:nvSpPr>
        <p:spPr>
          <a:xfrm>
            <a:off x="11475720" y="5897880"/>
            <a:ext cx="201168" cy="20116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4" name="pixel-13"/>
          <p:cNvSpPr/>
          <p:nvPr/>
        </p:nvSpPr>
        <p:spPr>
          <a:xfrm>
            <a:off x="457200" y="713232"/>
            <a:ext cx="201168" cy="201168"/>
          </a:xfrm>
          <a:prstGeom prst="rect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5" name="pixel-14"/>
          <p:cNvSpPr/>
          <p:nvPr/>
        </p:nvSpPr>
        <p:spPr>
          <a:xfrm>
            <a:off x="731520" y="713232"/>
            <a:ext cx="201168" cy="201168"/>
          </a:xfrm>
          <a:prstGeom prst="rect">
            <a:avLst/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16" name="pixel-15"/>
          <p:cNvSpPr/>
          <p:nvPr/>
        </p:nvSpPr>
        <p:spPr>
          <a:xfrm>
            <a:off x="1280160" y="713232"/>
            <a:ext cx="201168" cy="201168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7" name="pixel-16"/>
          <p:cNvSpPr/>
          <p:nvPr/>
        </p:nvSpPr>
        <p:spPr>
          <a:xfrm>
            <a:off x="457200" y="438912"/>
            <a:ext cx="201168" cy="201168"/>
          </a:xfrm>
          <a:prstGeom prst="rect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8" name="pixel-17"/>
          <p:cNvSpPr/>
          <p:nvPr/>
        </p:nvSpPr>
        <p:spPr>
          <a:xfrm>
            <a:off x="1005840" y="438912"/>
            <a:ext cx="201168" cy="201168"/>
          </a:xfrm>
          <a:prstGeom prst="rect">
            <a:avLst/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9" name="pixel-18"/>
          <p:cNvSpPr/>
          <p:nvPr/>
        </p:nvSpPr>
        <p:spPr>
          <a:xfrm>
            <a:off x="1280160" y="438912"/>
            <a:ext cx="201168" cy="201168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0" name="pixel-19"/>
          <p:cNvSpPr/>
          <p:nvPr/>
        </p:nvSpPr>
        <p:spPr>
          <a:xfrm>
            <a:off x="731520" y="164592"/>
            <a:ext cx="201168" cy="201168"/>
          </a:xfrm>
          <a:prstGeom prst="rect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1" name="pixel-20"/>
          <p:cNvSpPr/>
          <p:nvPr/>
        </p:nvSpPr>
        <p:spPr>
          <a:xfrm>
            <a:off x="1005840" y="164592"/>
            <a:ext cx="201168" cy="201168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22" name="pixel-21"/>
          <p:cNvSpPr/>
          <p:nvPr/>
        </p:nvSpPr>
        <p:spPr>
          <a:xfrm>
            <a:off x="1554480" y="164592"/>
            <a:ext cx="201168" cy="201168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23" name="texto-22"/>
          <p:cNvSpPr txBox="1"/>
          <p:nvPr/>
        </p:nvSpPr>
        <p:spPr>
          <a:xfrm>
            <a:off x="731520" y="1143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o-23"/>
          <p:cNvSpPr txBox="1"/>
          <p:nvPr/>
        </p:nvSpPr>
        <p:spPr>
          <a:xfrm>
            <a:off x="731520" y="1481328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8EE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Esteganografia</a:t>
            </a:r>
            <a:endParaRPr lang="en-US" sz="5800" dirty="0"/>
          </a:p>
        </p:txBody>
      </p:sp>
      <p:sp>
        <p:nvSpPr>
          <p:cNvPr id="25" name="texto-24"/>
          <p:cNvSpPr txBox="1"/>
          <p:nvPr/>
        </p:nvSpPr>
        <p:spPr>
          <a:xfrm>
            <a:off x="731520" y="2542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8EE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Esconda segredos </a:t>
            </a:r>
            <a:r>
              <a:rPr lang="en-US" sz="2800" i="1" dirty="0">
                <a:solidFill>
                  <a:srgbClr val="F2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vista</a:t>
            </a:r>
            <a:r>
              <a:rPr lang="en-US" sz="2800" i="1" dirty="0">
                <a:solidFill>
                  <a:srgbClr val="F8EE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todos.</a:t>
            </a:r>
            <a:endParaRPr lang="en-US" sz="2800" dirty="0"/>
          </a:p>
        </p:txBody>
      </p:sp>
      <p:sp>
        <p:nvSpPr>
          <p:cNvPr id="26" name="texto-25"/>
          <p:cNvSpPr txBox="1"/>
          <p:nvPr/>
        </p:nvSpPr>
        <p:spPr>
          <a:xfrm>
            <a:off x="731520" y="3246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B79D"/>
                </a:solidFill>
              </a:rPr>
              <a:t>O InvisioMZ esconde mensagens e ficheiros dentro de imagens PNG. Primeiro cifra tudo com AES-256-GCM; depois espalha os bits pela imagem com LSB. Sem a senha, é só mais uma fotografia.</a:t>
            </a:r>
            <a:endParaRPr lang="en-US" sz="1600" dirty="0"/>
          </a:p>
        </p:txBody>
      </p:sp>
      <p:sp>
        <p:nvSpPr>
          <p:cNvPr id="28" name="estudante-27"/>
          <p:cNvSpPr/>
          <p:nvPr/>
        </p:nvSpPr>
        <p:spPr>
          <a:xfrm>
            <a:off x="731520" y="4919472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D1F16"/>
          </a:solidFill>
          <a:ln w="9525">
            <a:solidFill>
              <a:srgbClr val="3D2C20"/>
            </a:solidFill>
            <a:prstDash val="solid"/>
          </a:ln>
        </p:spPr>
      </p:sp>
      <p:sp>
        <p:nvSpPr>
          <p:cNvPr id="29" name="ponto-28"/>
          <p:cNvSpPr/>
          <p:nvPr/>
        </p:nvSpPr>
        <p:spPr>
          <a:xfrm>
            <a:off x="932688" y="5120640"/>
            <a:ext cx="146304" cy="146304"/>
          </a:xfrm>
          <a:prstGeom prst="ellipse">
            <a:avLst/>
          </a:prstGeom>
          <a:solidFill>
            <a:srgbClr val="F28A2E"/>
          </a:solidFill>
          <a:ln/>
        </p:spPr>
      </p:sp>
      <p:sp>
        <p:nvSpPr>
          <p:cNvPr id="30" name="texto-29"/>
          <p:cNvSpPr txBox="1"/>
          <p:nvPr/>
        </p:nvSpPr>
        <p:spPr>
          <a:xfrm>
            <a:off x="118872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EEDC"/>
                </a:solidFill>
              </a:rPr>
              <a:t>Ashley Malate</a:t>
            </a:r>
            <a:endParaRPr lang="en-US" sz="1600" dirty="0"/>
          </a:p>
        </p:txBody>
      </p:sp>
      <p:sp>
        <p:nvSpPr>
          <p:cNvPr id="31" name="estudante-30"/>
          <p:cNvSpPr/>
          <p:nvPr/>
        </p:nvSpPr>
        <p:spPr>
          <a:xfrm>
            <a:off x="3246120" y="4919472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D1F16"/>
          </a:solidFill>
          <a:ln w="9525">
            <a:solidFill>
              <a:srgbClr val="3D2C20"/>
            </a:solidFill>
            <a:prstDash val="solid"/>
          </a:ln>
        </p:spPr>
      </p:sp>
      <p:sp>
        <p:nvSpPr>
          <p:cNvPr id="32" name="ponto-31"/>
          <p:cNvSpPr/>
          <p:nvPr/>
        </p:nvSpPr>
        <p:spPr>
          <a:xfrm>
            <a:off x="3447288" y="5120640"/>
            <a:ext cx="146304" cy="146304"/>
          </a:xfrm>
          <a:prstGeom prst="ellipse">
            <a:avLst/>
          </a:prstGeom>
          <a:solidFill>
            <a:srgbClr val="F28A2E"/>
          </a:solidFill>
          <a:ln/>
        </p:spPr>
      </p:sp>
      <p:sp>
        <p:nvSpPr>
          <p:cNvPr id="33" name="texto-32"/>
          <p:cNvSpPr txBox="1"/>
          <p:nvPr/>
        </p:nvSpPr>
        <p:spPr>
          <a:xfrm>
            <a:off x="370332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EEDC"/>
                </a:solidFill>
              </a:rPr>
              <a:t>Marlon Nhantumbo</a:t>
            </a:r>
            <a:endParaRPr lang="en-US" sz="1600" dirty="0"/>
          </a:p>
        </p:txBody>
      </p:sp>
      <p:sp>
        <p:nvSpPr>
          <p:cNvPr id="34" name="brilho-exterior"/>
          <p:cNvSpPr/>
          <p:nvPr/>
        </p:nvSpPr>
        <p:spPr>
          <a:xfrm>
            <a:off x="7452360" y="960120"/>
            <a:ext cx="4297680" cy="429768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5" name="brilho-interior"/>
          <p:cNvSpPr/>
          <p:nvPr/>
        </p:nvSpPr>
        <p:spPr>
          <a:xfrm>
            <a:off x="7772400" y="1280160"/>
            <a:ext cx="3657600" cy="3657600"/>
          </a:xfrm>
          <a:prstGeom prst="ellipse">
            <a:avLst/>
          </a:prstGeom>
          <a:solidFill>
            <a:schemeClr val="accent2">
              <a:alpha val="28000"/>
            </a:schemeClr>
          </a:solidFill>
          <a:ln/>
        </p:spPr>
      </p:sp>
      <p:sp>
        <p:nvSpPr>
          <p:cNvPr id="36" name="circulo-logo"/>
          <p:cNvSpPr/>
          <p:nvPr/>
        </p:nvSpPr>
        <p:spPr>
          <a:xfrm>
            <a:off x="8046720" y="1554480"/>
            <a:ext cx="3108960" cy="31089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7" name="Image 0" descr="Logótipo InvisioM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76272"/>
            <a:ext cx="2103120" cy="1528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01 · A IDEIA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Esteganografia ≠ criptografia</a:t>
            </a:r>
            <a:endParaRPr lang="en-US" sz="3600" dirty="0"/>
          </a:p>
        </p:txBody>
      </p:sp>
      <p:sp>
        <p:nvSpPr>
          <p:cNvPr id="4" name="cartao-33"/>
          <p:cNvSpPr/>
          <p:nvPr/>
        </p:nvSpPr>
        <p:spPr>
          <a:xfrm>
            <a:off x="548640" y="1783080"/>
            <a:ext cx="5387188" cy="2971800"/>
          </a:xfrm>
          <a:prstGeom prst="roundRect">
            <a:avLst>
              <a:gd name="adj" fmla="val 4308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5" name="chip-34"/>
          <p:cNvSpPr/>
          <p:nvPr/>
        </p:nvSpPr>
        <p:spPr>
          <a:xfrm>
            <a:off x="914400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6" name="Image 0" descr="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7" name="texto-35"/>
          <p:cNvSpPr txBox="1"/>
          <p:nvPr/>
        </p:nvSpPr>
        <p:spPr>
          <a:xfrm>
            <a:off x="914400" y="3063240"/>
            <a:ext cx="465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Esteganografia</a:t>
            </a:r>
            <a:endParaRPr lang="en-US" sz="2400" dirty="0"/>
          </a:p>
        </p:txBody>
      </p:sp>
      <p:sp>
        <p:nvSpPr>
          <p:cNvPr id="8" name="texto-36"/>
          <p:cNvSpPr txBox="1"/>
          <p:nvPr/>
        </p:nvSpPr>
        <p:spPr>
          <a:xfrm>
            <a:off x="914400" y="3538728"/>
            <a:ext cx="465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esconde que a mensagem existe</a:t>
            </a:r>
            <a:endParaRPr lang="en-US" sz="1600" dirty="0"/>
          </a:p>
        </p:txBody>
      </p:sp>
      <p:sp>
        <p:nvSpPr>
          <p:cNvPr id="9" name="texto-37"/>
          <p:cNvSpPr txBox="1"/>
          <p:nvPr/>
        </p:nvSpPr>
        <p:spPr>
          <a:xfrm>
            <a:off x="914400" y="3931920"/>
            <a:ext cx="465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Oculta a mensagem dentro de outro </a:t>
            </a:r>
            <a:r>
              <a:rPr lang="en-US" sz="1500" dirty="0" err="1">
                <a:solidFill>
                  <a:schemeClr val="accent5"/>
                </a:solidFill>
              </a:rPr>
              <a:t>objecto</a:t>
            </a:r>
            <a:r>
              <a:rPr lang="en-US" sz="1500" dirty="0">
                <a:solidFill>
                  <a:schemeClr val="accent5"/>
                </a:solidFill>
              </a:rPr>
              <a:t>: aqui, uma imagem. Quem vê o PNG não tem motivo para desconfiar.</a:t>
            </a:r>
            <a:endParaRPr lang="en-US" sz="1500" dirty="0"/>
          </a:p>
        </p:txBody>
      </p:sp>
      <p:sp>
        <p:nvSpPr>
          <p:cNvPr id="10" name="cartao-38"/>
          <p:cNvSpPr/>
          <p:nvPr/>
        </p:nvSpPr>
        <p:spPr>
          <a:xfrm>
            <a:off x="6255868" y="1783080"/>
            <a:ext cx="5387188" cy="2971800"/>
          </a:xfrm>
          <a:prstGeom prst="roundRect">
            <a:avLst>
              <a:gd name="adj" fmla="val 4308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1" name="chip-39"/>
          <p:cNvSpPr/>
          <p:nvPr/>
        </p:nvSpPr>
        <p:spPr>
          <a:xfrm>
            <a:off x="6621628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12" name="Image 1" descr="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823" y="2339035"/>
            <a:ext cx="351130" cy="351130"/>
          </a:xfrm>
          <a:prstGeom prst="rect">
            <a:avLst/>
          </a:prstGeom>
        </p:spPr>
      </p:pic>
      <p:sp>
        <p:nvSpPr>
          <p:cNvPr id="13" name="texto-40"/>
          <p:cNvSpPr txBox="1"/>
          <p:nvPr/>
        </p:nvSpPr>
        <p:spPr>
          <a:xfrm>
            <a:off x="6621628" y="3063240"/>
            <a:ext cx="465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Criptografia</a:t>
            </a:r>
            <a:endParaRPr lang="en-US" sz="2400" dirty="0"/>
          </a:p>
        </p:txBody>
      </p:sp>
      <p:sp>
        <p:nvSpPr>
          <p:cNvPr id="14" name="texto-41"/>
          <p:cNvSpPr txBox="1"/>
          <p:nvPr/>
        </p:nvSpPr>
        <p:spPr>
          <a:xfrm>
            <a:off x="6621628" y="3538728"/>
            <a:ext cx="465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esconde o que a mensagem diz</a:t>
            </a:r>
            <a:endParaRPr lang="en-US" sz="1600" dirty="0"/>
          </a:p>
        </p:txBody>
      </p:sp>
      <p:sp>
        <p:nvSpPr>
          <p:cNvPr id="15" name="texto-42"/>
          <p:cNvSpPr txBox="1"/>
          <p:nvPr/>
        </p:nvSpPr>
        <p:spPr>
          <a:xfrm>
            <a:off x="6621628" y="3931920"/>
            <a:ext cx="465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Torna o conteúdo ilegível sem a chave. Quem vê os dados sabe que há algo, mas não consegue lê-lo.</a:t>
            </a:r>
            <a:endParaRPr lang="en-US" sz="1500" dirty="0"/>
          </a:p>
        </p:txBody>
      </p:sp>
      <p:sp>
        <p:nvSpPr>
          <p:cNvPr id="16" name="faixa-conclusao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7" name="chip-43"/>
          <p:cNvSpPr/>
          <p:nvPr/>
        </p:nvSpPr>
        <p:spPr>
          <a:xfrm>
            <a:off x="822960" y="5257800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FFF8EE"/>
          </a:solidFill>
          <a:ln/>
        </p:spPr>
      </p:sp>
      <p:pic>
        <p:nvPicPr>
          <p:cNvPr id="18" name="Image 2" descr="lay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5412334"/>
            <a:ext cx="285293" cy="285293"/>
          </a:xfrm>
          <a:prstGeom prst="rect">
            <a:avLst/>
          </a:prstGeom>
        </p:spPr>
      </p:pic>
      <p:sp>
        <p:nvSpPr>
          <p:cNvPr id="19" name="texto-44"/>
          <p:cNvSpPr txBox="1"/>
          <p:nvPr/>
        </p:nvSpPr>
        <p:spPr>
          <a:xfrm>
            <a:off x="1645920" y="5074920"/>
            <a:ext cx="9722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InvisioMZ usa as duas: </a:t>
            </a:r>
            <a:r>
              <a:rPr lang="en-US" sz="22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cifra primeiro, esconde depois.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02 · FERRAMENTAS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usadas</a:t>
            </a:r>
            <a:endParaRPr lang="en-US" sz="3600" dirty="0"/>
          </a:p>
        </p:txBody>
      </p:sp>
      <p:sp>
        <p:nvSpPr>
          <p:cNvPr id="4" name="cartao-45"/>
          <p:cNvSpPr/>
          <p:nvPr/>
        </p:nvSpPr>
        <p:spPr>
          <a:xfrm>
            <a:off x="548640" y="1737360"/>
            <a:ext cx="2602154" cy="4343400"/>
          </a:xfrm>
          <a:prstGeom prst="roundRect">
            <a:avLst>
              <a:gd name="adj" fmla="val 4920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5" name="chip-46"/>
          <p:cNvSpPr/>
          <p:nvPr/>
        </p:nvSpPr>
        <p:spPr>
          <a:xfrm>
            <a:off x="822960" y="201168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6" name="Image 0" descr="glo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78101"/>
            <a:ext cx="307238" cy="307238"/>
          </a:xfrm>
          <a:prstGeom prst="rect">
            <a:avLst/>
          </a:prstGeom>
        </p:spPr>
      </p:pic>
      <p:sp>
        <p:nvSpPr>
          <p:cNvPr id="7" name="texto-47"/>
          <p:cNvSpPr txBox="1"/>
          <p:nvPr/>
        </p:nvSpPr>
        <p:spPr>
          <a:xfrm>
            <a:off x="822960" y="278892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o-48"/>
          <p:cNvSpPr txBox="1"/>
          <p:nvPr/>
        </p:nvSpPr>
        <p:spPr>
          <a:xfrm>
            <a:off x="822960" y="315468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Interface web</a:t>
            </a:r>
            <a:endParaRPr lang="en-US" sz="1300" dirty="0"/>
          </a:p>
        </p:txBody>
      </p:sp>
      <p:sp>
        <p:nvSpPr>
          <p:cNvPr id="9" name="divisor-49"/>
          <p:cNvSpPr/>
          <p:nvPr/>
        </p:nvSpPr>
        <p:spPr>
          <a:xfrm>
            <a:off x="822960" y="3566160"/>
            <a:ext cx="2053514" cy="0"/>
          </a:xfrm>
          <a:prstGeom prst="line">
            <a:avLst/>
          </a:prstGeom>
          <a:noFill/>
          <a:ln w="9525">
            <a:solidFill>
              <a:srgbClr val="E7D7B8"/>
            </a:solidFill>
            <a:prstDash val="solid"/>
          </a:ln>
        </p:spPr>
      </p:sp>
      <p:sp>
        <p:nvSpPr>
          <p:cNvPr id="10" name="pixel-50"/>
          <p:cNvSpPr/>
          <p:nvPr/>
        </p:nvSpPr>
        <p:spPr>
          <a:xfrm>
            <a:off x="822960" y="377647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o-51"/>
          <p:cNvSpPr txBox="1"/>
          <p:nvPr/>
        </p:nvSpPr>
        <p:spPr>
          <a:xfrm>
            <a:off x="1024128" y="370332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 19 + TypeScript</a:t>
            </a:r>
            <a:endParaRPr lang="en-US" sz="1400" dirty="0"/>
          </a:p>
        </p:txBody>
      </p:sp>
      <p:sp>
        <p:nvSpPr>
          <p:cNvPr id="12" name="texto-52"/>
          <p:cNvSpPr txBox="1"/>
          <p:nvPr/>
        </p:nvSpPr>
        <p:spPr>
          <a:xfrm>
            <a:off x="1024128" y="395020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páginas e componentes</a:t>
            </a:r>
            <a:endParaRPr lang="en-US" sz="1200" dirty="0"/>
          </a:p>
        </p:txBody>
      </p:sp>
      <p:sp>
        <p:nvSpPr>
          <p:cNvPr id="13" name="pixel-53"/>
          <p:cNvSpPr/>
          <p:nvPr/>
        </p:nvSpPr>
        <p:spPr>
          <a:xfrm>
            <a:off x="822960" y="434340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o-54"/>
          <p:cNvSpPr txBox="1"/>
          <p:nvPr/>
        </p:nvSpPr>
        <p:spPr>
          <a:xfrm>
            <a:off x="1024128" y="427024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Vite</a:t>
            </a:r>
            <a:endParaRPr lang="en-US" sz="1400" dirty="0"/>
          </a:p>
        </p:txBody>
      </p:sp>
      <p:sp>
        <p:nvSpPr>
          <p:cNvPr id="15" name="texto-55"/>
          <p:cNvSpPr txBox="1"/>
          <p:nvPr/>
        </p:nvSpPr>
        <p:spPr>
          <a:xfrm>
            <a:off x="1024128" y="451713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desenvolvimento e build</a:t>
            </a:r>
            <a:endParaRPr lang="en-US" sz="1200" dirty="0"/>
          </a:p>
        </p:txBody>
      </p:sp>
      <p:sp>
        <p:nvSpPr>
          <p:cNvPr id="16" name="pixel-56"/>
          <p:cNvSpPr/>
          <p:nvPr/>
        </p:nvSpPr>
        <p:spPr>
          <a:xfrm>
            <a:off x="822960" y="4910328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o-57"/>
          <p:cNvSpPr txBox="1"/>
          <p:nvPr/>
        </p:nvSpPr>
        <p:spPr>
          <a:xfrm>
            <a:off x="1024128" y="4837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18" name="texto-58"/>
          <p:cNvSpPr txBox="1"/>
          <p:nvPr/>
        </p:nvSpPr>
        <p:spPr>
          <a:xfrm>
            <a:off x="1024128" y="50840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paleta creme + laranja</a:t>
            </a:r>
            <a:endParaRPr lang="en-US" sz="1200" dirty="0"/>
          </a:p>
        </p:txBody>
      </p:sp>
      <p:sp>
        <p:nvSpPr>
          <p:cNvPr id="19" name="pixel-59"/>
          <p:cNvSpPr/>
          <p:nvPr/>
        </p:nvSpPr>
        <p:spPr>
          <a:xfrm>
            <a:off x="822960" y="5477256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o-60"/>
          <p:cNvSpPr txBox="1"/>
          <p:nvPr/>
        </p:nvSpPr>
        <p:spPr>
          <a:xfrm>
            <a:off x="1024128" y="540410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Supabase JS</a:t>
            </a:r>
            <a:endParaRPr lang="en-US" sz="1400" dirty="0"/>
          </a:p>
        </p:txBody>
      </p:sp>
      <p:sp>
        <p:nvSpPr>
          <p:cNvPr id="21" name="texto-61"/>
          <p:cNvSpPr txBox="1"/>
          <p:nvPr/>
        </p:nvSpPr>
        <p:spPr>
          <a:xfrm>
            <a:off x="1024128" y="565099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login e sessão</a:t>
            </a:r>
            <a:endParaRPr lang="en-US" sz="1200" dirty="0"/>
          </a:p>
        </p:txBody>
      </p:sp>
      <p:sp>
        <p:nvSpPr>
          <p:cNvPr id="22" name="cartao-62"/>
          <p:cNvSpPr/>
          <p:nvPr/>
        </p:nvSpPr>
        <p:spPr>
          <a:xfrm>
            <a:off x="3379394" y="1737360"/>
            <a:ext cx="2602154" cy="4343400"/>
          </a:xfrm>
          <a:prstGeom prst="roundRect">
            <a:avLst>
              <a:gd name="adj" fmla="val 4920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23" name="chip-63"/>
          <p:cNvSpPr/>
          <p:nvPr/>
        </p:nvSpPr>
        <p:spPr>
          <a:xfrm>
            <a:off x="3653714" y="201168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24" name="Image 1" descr="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135" y="2178101"/>
            <a:ext cx="307238" cy="307238"/>
          </a:xfrm>
          <a:prstGeom prst="rect">
            <a:avLst/>
          </a:prstGeom>
        </p:spPr>
      </p:pic>
      <p:sp>
        <p:nvSpPr>
          <p:cNvPr id="25" name="texto-64"/>
          <p:cNvSpPr txBox="1"/>
          <p:nvPr/>
        </p:nvSpPr>
        <p:spPr>
          <a:xfrm>
            <a:off x="3653714" y="278892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26" name="texto-65"/>
          <p:cNvSpPr txBox="1"/>
          <p:nvPr/>
        </p:nvSpPr>
        <p:spPr>
          <a:xfrm>
            <a:off x="3653714" y="315468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API em Python</a:t>
            </a:r>
            <a:endParaRPr lang="en-US" sz="1300" dirty="0"/>
          </a:p>
        </p:txBody>
      </p:sp>
      <p:sp>
        <p:nvSpPr>
          <p:cNvPr id="27" name="divisor-66"/>
          <p:cNvSpPr/>
          <p:nvPr/>
        </p:nvSpPr>
        <p:spPr>
          <a:xfrm>
            <a:off x="3653714" y="3566160"/>
            <a:ext cx="2053514" cy="0"/>
          </a:xfrm>
          <a:prstGeom prst="line">
            <a:avLst/>
          </a:prstGeom>
          <a:noFill/>
          <a:ln w="9525">
            <a:solidFill>
              <a:srgbClr val="E7D7B8"/>
            </a:solidFill>
            <a:prstDash val="solid"/>
          </a:ln>
        </p:spPr>
      </p:sp>
      <p:sp>
        <p:nvSpPr>
          <p:cNvPr id="28" name="pixel-67"/>
          <p:cNvSpPr/>
          <p:nvPr/>
        </p:nvSpPr>
        <p:spPr>
          <a:xfrm>
            <a:off x="3653714" y="377647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o-68"/>
          <p:cNvSpPr txBox="1"/>
          <p:nvPr/>
        </p:nvSpPr>
        <p:spPr>
          <a:xfrm>
            <a:off x="3854882" y="370332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FastAPI + Uvicorn</a:t>
            </a:r>
            <a:endParaRPr lang="en-US" sz="1400" dirty="0"/>
          </a:p>
        </p:txBody>
      </p:sp>
      <p:sp>
        <p:nvSpPr>
          <p:cNvPr id="30" name="texto-69"/>
          <p:cNvSpPr txBox="1"/>
          <p:nvPr/>
        </p:nvSpPr>
        <p:spPr>
          <a:xfrm>
            <a:off x="3854882" y="395020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rotas HTTP</a:t>
            </a:r>
            <a:endParaRPr lang="en-US" sz="1200" dirty="0"/>
          </a:p>
        </p:txBody>
      </p:sp>
      <p:sp>
        <p:nvSpPr>
          <p:cNvPr id="31" name="pixel-70"/>
          <p:cNvSpPr/>
          <p:nvPr/>
        </p:nvSpPr>
        <p:spPr>
          <a:xfrm>
            <a:off x="3653714" y="434340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o-71"/>
          <p:cNvSpPr txBox="1"/>
          <p:nvPr/>
        </p:nvSpPr>
        <p:spPr>
          <a:xfrm>
            <a:off x="3854882" y="427024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Pillow + NumPy</a:t>
            </a:r>
            <a:endParaRPr lang="en-US" sz="1400" dirty="0"/>
          </a:p>
        </p:txBody>
      </p:sp>
      <p:sp>
        <p:nvSpPr>
          <p:cNvPr id="33" name="texto-72"/>
          <p:cNvSpPr txBox="1"/>
          <p:nvPr/>
        </p:nvSpPr>
        <p:spPr>
          <a:xfrm>
            <a:off x="3854882" y="451713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ler píxeis e trocar bits</a:t>
            </a:r>
            <a:endParaRPr lang="en-US" sz="1200" dirty="0"/>
          </a:p>
        </p:txBody>
      </p:sp>
      <p:sp>
        <p:nvSpPr>
          <p:cNvPr id="34" name="pixel-73"/>
          <p:cNvSpPr/>
          <p:nvPr/>
        </p:nvSpPr>
        <p:spPr>
          <a:xfrm>
            <a:off x="3653714" y="4910328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texto-74"/>
          <p:cNvSpPr txBox="1"/>
          <p:nvPr/>
        </p:nvSpPr>
        <p:spPr>
          <a:xfrm>
            <a:off x="3854882" y="4837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cryptography</a:t>
            </a:r>
            <a:endParaRPr lang="en-US" sz="1400" dirty="0"/>
          </a:p>
        </p:txBody>
      </p:sp>
      <p:sp>
        <p:nvSpPr>
          <p:cNvPr id="36" name="texto-75"/>
          <p:cNvSpPr txBox="1"/>
          <p:nvPr/>
        </p:nvSpPr>
        <p:spPr>
          <a:xfrm>
            <a:off x="3854882" y="50840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AES-256-GCM, Scrypt, HKDF</a:t>
            </a:r>
            <a:endParaRPr lang="en-US" sz="1200" dirty="0"/>
          </a:p>
        </p:txBody>
      </p:sp>
      <p:sp>
        <p:nvSpPr>
          <p:cNvPr id="37" name="pixel-76"/>
          <p:cNvSpPr/>
          <p:nvPr/>
        </p:nvSpPr>
        <p:spPr>
          <a:xfrm>
            <a:off x="3653714" y="5477256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o-77"/>
          <p:cNvSpPr txBox="1"/>
          <p:nvPr/>
        </p:nvSpPr>
        <p:spPr>
          <a:xfrm>
            <a:off x="3854882" y="540410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PyJWT</a:t>
            </a:r>
            <a:endParaRPr lang="en-US" sz="1400" dirty="0"/>
          </a:p>
        </p:txBody>
      </p:sp>
      <p:sp>
        <p:nvSpPr>
          <p:cNvPr id="39" name="texto-78"/>
          <p:cNvSpPr txBox="1"/>
          <p:nvPr/>
        </p:nvSpPr>
        <p:spPr>
          <a:xfrm>
            <a:off x="3854882" y="565099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validar a sessão</a:t>
            </a:r>
            <a:endParaRPr lang="en-US" sz="1200" dirty="0"/>
          </a:p>
        </p:txBody>
      </p:sp>
      <p:sp>
        <p:nvSpPr>
          <p:cNvPr id="40" name="cartao-79"/>
          <p:cNvSpPr/>
          <p:nvPr/>
        </p:nvSpPr>
        <p:spPr>
          <a:xfrm>
            <a:off x="6210148" y="1737360"/>
            <a:ext cx="2602154" cy="4343400"/>
          </a:xfrm>
          <a:prstGeom prst="roundRect">
            <a:avLst>
              <a:gd name="adj" fmla="val 4920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41" name="chip-80"/>
          <p:cNvSpPr/>
          <p:nvPr/>
        </p:nvSpPr>
        <p:spPr>
          <a:xfrm>
            <a:off x="6484468" y="201168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42" name="Image 2" descr="d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888" y="2178101"/>
            <a:ext cx="307238" cy="307238"/>
          </a:xfrm>
          <a:prstGeom prst="rect">
            <a:avLst/>
          </a:prstGeom>
        </p:spPr>
      </p:pic>
      <p:sp>
        <p:nvSpPr>
          <p:cNvPr id="43" name="texto-81"/>
          <p:cNvSpPr txBox="1"/>
          <p:nvPr/>
        </p:nvSpPr>
        <p:spPr>
          <a:xfrm>
            <a:off x="6484468" y="278892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</a:t>
            </a:r>
            <a:endParaRPr lang="en-US" sz="2000" dirty="0"/>
          </a:p>
        </p:txBody>
      </p:sp>
      <p:sp>
        <p:nvSpPr>
          <p:cNvPr id="44" name="texto-82"/>
          <p:cNvSpPr txBox="1"/>
          <p:nvPr/>
        </p:nvSpPr>
        <p:spPr>
          <a:xfrm>
            <a:off x="6484468" y="315468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Contas e histórico</a:t>
            </a:r>
            <a:endParaRPr lang="en-US" sz="1300" dirty="0"/>
          </a:p>
        </p:txBody>
      </p:sp>
      <p:sp>
        <p:nvSpPr>
          <p:cNvPr id="45" name="divisor-83"/>
          <p:cNvSpPr/>
          <p:nvPr/>
        </p:nvSpPr>
        <p:spPr>
          <a:xfrm>
            <a:off x="6484468" y="3566160"/>
            <a:ext cx="2053514" cy="0"/>
          </a:xfrm>
          <a:prstGeom prst="line">
            <a:avLst/>
          </a:prstGeom>
          <a:noFill/>
          <a:ln w="9525">
            <a:solidFill>
              <a:srgbClr val="E7D7B8"/>
            </a:solidFill>
            <a:prstDash val="solid"/>
          </a:ln>
        </p:spPr>
      </p:sp>
      <p:sp>
        <p:nvSpPr>
          <p:cNvPr id="46" name="pixel-84"/>
          <p:cNvSpPr/>
          <p:nvPr/>
        </p:nvSpPr>
        <p:spPr>
          <a:xfrm>
            <a:off x="6484468" y="377647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7" name="texto-85"/>
          <p:cNvSpPr txBox="1"/>
          <p:nvPr/>
        </p:nvSpPr>
        <p:spPr>
          <a:xfrm>
            <a:off x="6685636" y="370332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Supabase Auth</a:t>
            </a:r>
            <a:endParaRPr lang="en-US" sz="1400" dirty="0"/>
          </a:p>
        </p:txBody>
      </p:sp>
      <p:sp>
        <p:nvSpPr>
          <p:cNvPr id="48" name="texto-86"/>
          <p:cNvSpPr txBox="1"/>
          <p:nvPr/>
        </p:nvSpPr>
        <p:spPr>
          <a:xfrm>
            <a:off x="6685636" y="395020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registo e login</a:t>
            </a:r>
            <a:endParaRPr lang="en-US" sz="1200" dirty="0"/>
          </a:p>
        </p:txBody>
      </p:sp>
      <p:sp>
        <p:nvSpPr>
          <p:cNvPr id="49" name="pixel-87"/>
          <p:cNvSpPr/>
          <p:nvPr/>
        </p:nvSpPr>
        <p:spPr>
          <a:xfrm>
            <a:off x="6484468" y="434340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0" name="texto-88"/>
          <p:cNvSpPr txBox="1"/>
          <p:nvPr/>
        </p:nvSpPr>
        <p:spPr>
          <a:xfrm>
            <a:off x="6685636" y="427024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+ RLS</a:t>
            </a:r>
            <a:endParaRPr lang="en-US" sz="1400" dirty="0"/>
          </a:p>
        </p:txBody>
      </p:sp>
      <p:sp>
        <p:nvSpPr>
          <p:cNvPr id="51" name="texto-89"/>
          <p:cNvSpPr txBox="1"/>
          <p:nvPr/>
        </p:nvSpPr>
        <p:spPr>
          <a:xfrm>
            <a:off x="6685636" y="451713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metadados por utilizador</a:t>
            </a:r>
            <a:endParaRPr lang="en-US" sz="1200" dirty="0"/>
          </a:p>
        </p:txBody>
      </p:sp>
      <p:sp>
        <p:nvSpPr>
          <p:cNvPr id="52" name="pixel-90"/>
          <p:cNvSpPr/>
          <p:nvPr/>
        </p:nvSpPr>
        <p:spPr>
          <a:xfrm>
            <a:off x="6484468" y="4910328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texto-91"/>
          <p:cNvSpPr txBox="1"/>
          <p:nvPr/>
        </p:nvSpPr>
        <p:spPr>
          <a:xfrm>
            <a:off x="6685636" y="4837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Storage privado</a:t>
            </a:r>
            <a:endParaRPr lang="en-US" sz="1400" dirty="0"/>
          </a:p>
        </p:txBody>
      </p:sp>
      <p:sp>
        <p:nvSpPr>
          <p:cNvPr id="54" name="texto-92"/>
          <p:cNvSpPr txBox="1"/>
          <p:nvPr/>
        </p:nvSpPr>
        <p:spPr>
          <a:xfrm>
            <a:off x="6685636" y="50840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PNG guardado 7 dias</a:t>
            </a:r>
            <a:endParaRPr lang="en-US" sz="1200" dirty="0"/>
          </a:p>
        </p:txBody>
      </p:sp>
      <p:sp>
        <p:nvSpPr>
          <p:cNvPr id="55" name="pixel-93"/>
          <p:cNvSpPr/>
          <p:nvPr/>
        </p:nvSpPr>
        <p:spPr>
          <a:xfrm>
            <a:off x="6484468" y="5477256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6" name="texto-94"/>
          <p:cNvSpPr txBox="1"/>
          <p:nvPr/>
        </p:nvSpPr>
        <p:spPr>
          <a:xfrm>
            <a:off x="6685636" y="540410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</a:t>
            </a:r>
            <a:endParaRPr lang="en-US" sz="1400" dirty="0"/>
          </a:p>
        </p:txBody>
      </p:sp>
      <p:sp>
        <p:nvSpPr>
          <p:cNvPr id="57" name="texto-95"/>
          <p:cNvSpPr txBox="1"/>
          <p:nvPr/>
        </p:nvSpPr>
        <p:spPr>
          <a:xfrm>
            <a:off x="6685636" y="565099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Supabase local</a:t>
            </a:r>
            <a:endParaRPr lang="en-US" sz="1200" dirty="0"/>
          </a:p>
        </p:txBody>
      </p:sp>
      <p:sp>
        <p:nvSpPr>
          <p:cNvPr id="58" name="cartao-96"/>
          <p:cNvSpPr/>
          <p:nvPr/>
        </p:nvSpPr>
        <p:spPr>
          <a:xfrm>
            <a:off x="9040901" y="1737360"/>
            <a:ext cx="2602154" cy="4343400"/>
          </a:xfrm>
          <a:prstGeom prst="roundRect">
            <a:avLst>
              <a:gd name="adj" fmla="val 4920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59" name="chip-97"/>
          <p:cNvSpPr/>
          <p:nvPr/>
        </p:nvSpPr>
        <p:spPr>
          <a:xfrm>
            <a:off x="9315221" y="201168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60" name="Image 3" descr="li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1642" y="2178101"/>
            <a:ext cx="307238" cy="307238"/>
          </a:xfrm>
          <a:prstGeom prst="rect">
            <a:avLst/>
          </a:prstGeom>
        </p:spPr>
      </p:pic>
      <p:sp>
        <p:nvSpPr>
          <p:cNvPr id="61" name="texto-98"/>
          <p:cNvSpPr txBox="1"/>
          <p:nvPr/>
        </p:nvSpPr>
        <p:spPr>
          <a:xfrm>
            <a:off x="9315221" y="278892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Qualidade</a:t>
            </a:r>
            <a:endParaRPr lang="en-US" sz="2000" dirty="0"/>
          </a:p>
        </p:txBody>
      </p:sp>
      <p:sp>
        <p:nvSpPr>
          <p:cNvPr id="62" name="texto-99"/>
          <p:cNvSpPr txBox="1"/>
          <p:nvPr/>
        </p:nvSpPr>
        <p:spPr>
          <a:xfrm>
            <a:off x="9315221" y="315468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Testes e CI</a:t>
            </a:r>
            <a:endParaRPr lang="en-US" sz="1300" dirty="0"/>
          </a:p>
        </p:txBody>
      </p:sp>
      <p:sp>
        <p:nvSpPr>
          <p:cNvPr id="63" name="divisor-100"/>
          <p:cNvSpPr/>
          <p:nvPr/>
        </p:nvSpPr>
        <p:spPr>
          <a:xfrm>
            <a:off x="9315221" y="3566160"/>
            <a:ext cx="2053514" cy="0"/>
          </a:xfrm>
          <a:prstGeom prst="line">
            <a:avLst/>
          </a:prstGeom>
          <a:noFill/>
          <a:ln w="9525">
            <a:solidFill>
              <a:srgbClr val="E7D7B8"/>
            </a:solidFill>
            <a:prstDash val="solid"/>
          </a:ln>
        </p:spPr>
      </p:sp>
      <p:sp>
        <p:nvSpPr>
          <p:cNvPr id="64" name="pixel-101"/>
          <p:cNvSpPr/>
          <p:nvPr/>
        </p:nvSpPr>
        <p:spPr>
          <a:xfrm>
            <a:off x="9315221" y="377647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5" name="texto-102"/>
          <p:cNvSpPr txBox="1"/>
          <p:nvPr/>
        </p:nvSpPr>
        <p:spPr>
          <a:xfrm>
            <a:off x="9516389" y="370332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pytest</a:t>
            </a:r>
            <a:endParaRPr lang="en-US" sz="1400" dirty="0"/>
          </a:p>
        </p:txBody>
      </p:sp>
      <p:sp>
        <p:nvSpPr>
          <p:cNvPr id="66" name="texto-103"/>
          <p:cNvSpPr txBox="1"/>
          <p:nvPr/>
        </p:nvSpPr>
        <p:spPr>
          <a:xfrm>
            <a:off x="9516389" y="395020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149 testes no backend</a:t>
            </a:r>
            <a:endParaRPr lang="en-US" sz="1200" dirty="0"/>
          </a:p>
        </p:txBody>
      </p:sp>
      <p:sp>
        <p:nvSpPr>
          <p:cNvPr id="67" name="pixel-104"/>
          <p:cNvSpPr/>
          <p:nvPr/>
        </p:nvSpPr>
        <p:spPr>
          <a:xfrm>
            <a:off x="9315221" y="434340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8" name="texto-105"/>
          <p:cNvSpPr txBox="1"/>
          <p:nvPr/>
        </p:nvSpPr>
        <p:spPr>
          <a:xfrm>
            <a:off x="9516389" y="427024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Vitest</a:t>
            </a:r>
            <a:endParaRPr lang="en-US" sz="1400" dirty="0"/>
          </a:p>
        </p:txBody>
      </p:sp>
      <p:sp>
        <p:nvSpPr>
          <p:cNvPr id="69" name="texto-106"/>
          <p:cNvSpPr txBox="1"/>
          <p:nvPr/>
        </p:nvSpPr>
        <p:spPr>
          <a:xfrm>
            <a:off x="9516389" y="451713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66 testes no frontend</a:t>
            </a:r>
            <a:endParaRPr lang="en-US" sz="1200" dirty="0"/>
          </a:p>
        </p:txBody>
      </p:sp>
      <p:sp>
        <p:nvSpPr>
          <p:cNvPr id="70" name="pixel-107"/>
          <p:cNvSpPr/>
          <p:nvPr/>
        </p:nvSpPr>
        <p:spPr>
          <a:xfrm>
            <a:off x="9315221" y="4910328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1" name="texto-108"/>
          <p:cNvSpPr txBox="1"/>
          <p:nvPr/>
        </p:nvSpPr>
        <p:spPr>
          <a:xfrm>
            <a:off x="9516389" y="4837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ESLint + tsc</a:t>
            </a:r>
            <a:endParaRPr lang="en-US" sz="1400" dirty="0"/>
          </a:p>
        </p:txBody>
      </p:sp>
      <p:sp>
        <p:nvSpPr>
          <p:cNvPr id="72" name="texto-109"/>
          <p:cNvSpPr txBox="1"/>
          <p:nvPr/>
        </p:nvSpPr>
        <p:spPr>
          <a:xfrm>
            <a:off x="9516389" y="50840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erros de código e tipos</a:t>
            </a:r>
            <a:endParaRPr lang="en-US" sz="1200" dirty="0"/>
          </a:p>
        </p:txBody>
      </p:sp>
      <p:sp>
        <p:nvSpPr>
          <p:cNvPr id="73" name="pixel-110"/>
          <p:cNvSpPr/>
          <p:nvPr/>
        </p:nvSpPr>
        <p:spPr>
          <a:xfrm>
            <a:off x="9315221" y="5477256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4" name="texto-111"/>
          <p:cNvSpPr txBox="1"/>
          <p:nvPr/>
        </p:nvSpPr>
        <p:spPr>
          <a:xfrm>
            <a:off x="9516389" y="540410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75" name="texto-112"/>
          <p:cNvSpPr txBox="1"/>
          <p:nvPr/>
        </p:nvSpPr>
        <p:spPr>
          <a:xfrm>
            <a:off x="9516389" y="565099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corre tudo a cada envio</a:t>
            </a:r>
            <a:endParaRPr lang="en-US" sz="12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03 · ESTRUTURA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do sistema</a:t>
            </a:r>
            <a:endParaRPr lang="en-US" sz="3600" dirty="0"/>
          </a:p>
        </p:txBody>
      </p:sp>
      <p:sp>
        <p:nvSpPr>
          <p:cNvPr id="4" name="cartao-113"/>
          <p:cNvSpPr/>
          <p:nvPr/>
        </p:nvSpPr>
        <p:spPr>
          <a:xfrm>
            <a:off x="548640" y="1783080"/>
            <a:ext cx="3210458" cy="22402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5" name="chip-114"/>
          <p:cNvSpPr/>
          <p:nvPr/>
        </p:nvSpPr>
        <p:spPr>
          <a:xfrm>
            <a:off x="822960" y="2057400"/>
            <a:ext cx="594360" cy="59436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6" name="Image 0" descr="glo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211934"/>
            <a:ext cx="285293" cy="285293"/>
          </a:xfrm>
          <a:prstGeom prst="rect">
            <a:avLst/>
          </a:prstGeom>
        </p:spPr>
      </p:pic>
      <p:sp>
        <p:nvSpPr>
          <p:cNvPr id="7" name="texto-115"/>
          <p:cNvSpPr txBox="1"/>
          <p:nvPr/>
        </p:nvSpPr>
        <p:spPr>
          <a:xfrm>
            <a:off x="1554480" y="2057400"/>
            <a:ext cx="2021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Navegador</a:t>
            </a:r>
            <a:endParaRPr lang="en-US" sz="2000" dirty="0"/>
          </a:p>
        </p:txBody>
      </p:sp>
      <p:sp>
        <p:nvSpPr>
          <p:cNvPr id="8" name="texto-116"/>
          <p:cNvSpPr txBox="1"/>
          <p:nvPr/>
        </p:nvSpPr>
        <p:spPr>
          <a:xfrm>
            <a:off x="1554480" y="2404872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React + TypeScript</a:t>
            </a:r>
            <a:endParaRPr lang="en-US" sz="1300" dirty="0"/>
          </a:p>
        </p:txBody>
      </p:sp>
      <p:sp>
        <p:nvSpPr>
          <p:cNvPr id="9" name="texto-117"/>
          <p:cNvSpPr txBox="1"/>
          <p:nvPr/>
        </p:nvSpPr>
        <p:spPr>
          <a:xfrm>
            <a:off x="822960" y="292608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Início · Painel · Ocultar · Extrair · Histórico · Definições</a:t>
            </a:r>
            <a:endParaRPr lang="en-US" sz="1500" dirty="0"/>
          </a:p>
        </p:txBody>
      </p:sp>
      <p:sp>
        <p:nvSpPr>
          <p:cNvPr id="10" name="cartao-118"/>
          <p:cNvSpPr/>
          <p:nvPr/>
        </p:nvSpPr>
        <p:spPr>
          <a:xfrm>
            <a:off x="4490618" y="1783080"/>
            <a:ext cx="3210458" cy="224028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1" name="chip-119"/>
          <p:cNvSpPr/>
          <p:nvPr/>
        </p:nvSpPr>
        <p:spPr>
          <a:xfrm>
            <a:off x="4764938" y="2057400"/>
            <a:ext cx="594360" cy="594360"/>
          </a:xfrm>
          <a:prstGeom prst="roundRect">
            <a:avLst>
              <a:gd name="adj" fmla="val 28000"/>
            </a:avLst>
          </a:prstGeom>
          <a:solidFill>
            <a:schemeClr val="bg1"/>
          </a:solidFill>
          <a:ln/>
        </p:spPr>
      </p:sp>
      <p:pic>
        <p:nvPicPr>
          <p:cNvPr id="12" name="Image 1" descr="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211934"/>
            <a:ext cx="285293" cy="285293"/>
          </a:xfrm>
          <a:prstGeom prst="rect">
            <a:avLst/>
          </a:prstGeom>
        </p:spPr>
      </p:pic>
      <p:sp>
        <p:nvSpPr>
          <p:cNvPr id="13" name="texto-120"/>
          <p:cNvSpPr txBox="1"/>
          <p:nvPr/>
        </p:nvSpPr>
        <p:spPr>
          <a:xfrm>
            <a:off x="5496458" y="2057400"/>
            <a:ext cx="2021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FastAPI</a:t>
            </a:r>
            <a:endParaRPr lang="en-US" sz="2000" dirty="0"/>
          </a:p>
        </p:txBody>
      </p:sp>
      <p:sp>
        <p:nvSpPr>
          <p:cNvPr id="14" name="texto-121"/>
          <p:cNvSpPr txBox="1"/>
          <p:nvPr/>
        </p:nvSpPr>
        <p:spPr>
          <a:xfrm>
            <a:off x="5496458" y="2404872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Python</a:t>
            </a:r>
            <a:endParaRPr lang="en-US" sz="1300" dirty="0"/>
          </a:p>
        </p:txBody>
      </p:sp>
      <p:sp>
        <p:nvSpPr>
          <p:cNvPr id="15" name="texto-122"/>
          <p:cNvSpPr txBox="1"/>
          <p:nvPr/>
        </p:nvSpPr>
        <p:spPr>
          <a:xfrm>
            <a:off x="4764938" y="292608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/hide · /extract · /capacity · /history</a:t>
            </a:r>
            <a:endParaRPr lang="en-US" sz="1500" dirty="0"/>
          </a:p>
        </p:txBody>
      </p:sp>
      <p:sp>
        <p:nvSpPr>
          <p:cNvPr id="16" name="cartao-123"/>
          <p:cNvSpPr/>
          <p:nvPr/>
        </p:nvSpPr>
        <p:spPr>
          <a:xfrm>
            <a:off x="8432597" y="1783080"/>
            <a:ext cx="3210458" cy="22402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7" name="chip-124"/>
          <p:cNvSpPr/>
          <p:nvPr/>
        </p:nvSpPr>
        <p:spPr>
          <a:xfrm>
            <a:off x="8706917" y="2057400"/>
            <a:ext cx="594360" cy="59436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18" name="Image 2" descr="d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450" y="2211934"/>
            <a:ext cx="285293" cy="285293"/>
          </a:xfrm>
          <a:prstGeom prst="rect">
            <a:avLst/>
          </a:prstGeom>
        </p:spPr>
      </p:pic>
      <p:sp>
        <p:nvSpPr>
          <p:cNvPr id="19" name="texto-125"/>
          <p:cNvSpPr txBox="1"/>
          <p:nvPr/>
        </p:nvSpPr>
        <p:spPr>
          <a:xfrm>
            <a:off x="9438437" y="2057400"/>
            <a:ext cx="2021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2000" dirty="0"/>
          </a:p>
        </p:txBody>
      </p:sp>
      <p:sp>
        <p:nvSpPr>
          <p:cNvPr id="20" name="texto-126"/>
          <p:cNvSpPr txBox="1"/>
          <p:nvPr/>
        </p:nvSpPr>
        <p:spPr>
          <a:xfrm>
            <a:off x="9438437" y="2404872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contas e dados</a:t>
            </a:r>
            <a:endParaRPr lang="en-US" sz="1300" dirty="0"/>
          </a:p>
        </p:txBody>
      </p:sp>
      <p:sp>
        <p:nvSpPr>
          <p:cNvPr id="21" name="texto-127"/>
          <p:cNvSpPr txBox="1"/>
          <p:nvPr/>
        </p:nvSpPr>
        <p:spPr>
          <a:xfrm>
            <a:off x="8706917" y="292608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Auth · PostgreSQL com RLS · Storage privado</a:t>
            </a:r>
            <a:endParaRPr lang="en-US" sz="1500" dirty="0"/>
          </a:p>
        </p:txBody>
      </p:sp>
      <p:sp>
        <p:nvSpPr>
          <p:cNvPr id="22" name="seta-128"/>
          <p:cNvSpPr/>
          <p:nvPr/>
        </p:nvSpPr>
        <p:spPr>
          <a:xfrm>
            <a:off x="3850538" y="2903220"/>
            <a:ext cx="548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3" name="texto-129"/>
          <p:cNvSpPr txBox="1"/>
          <p:nvPr/>
        </p:nvSpPr>
        <p:spPr>
          <a:xfrm>
            <a:off x="3759098" y="25191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HTTPS</a:t>
            </a:r>
            <a:endParaRPr lang="en-US" sz="1100" dirty="0"/>
          </a:p>
        </p:txBody>
      </p:sp>
      <p:sp>
        <p:nvSpPr>
          <p:cNvPr id="24" name="seta-130"/>
          <p:cNvSpPr/>
          <p:nvPr/>
        </p:nvSpPr>
        <p:spPr>
          <a:xfrm>
            <a:off x="7792517" y="2903220"/>
            <a:ext cx="548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5" name="texto-131"/>
          <p:cNvSpPr txBox="1"/>
          <p:nvPr/>
        </p:nvSpPr>
        <p:spPr>
          <a:xfrm>
            <a:off x="7701077" y="25191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JWT</a:t>
            </a:r>
            <a:endParaRPr lang="en-US" sz="1100" dirty="0"/>
          </a:p>
        </p:txBody>
      </p:sp>
      <p:sp>
        <p:nvSpPr>
          <p:cNvPr id="26" name="ligacao-modulos"/>
          <p:cNvSpPr/>
          <p:nvPr/>
        </p:nvSpPr>
        <p:spPr>
          <a:xfrm>
            <a:off x="6095848" y="4023360"/>
            <a:ext cx="0" cy="411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27" name="cartao-132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name="adj" fmla="val 10370"/>
            </a:avLst>
          </a:prstGeom>
          <a:solidFill>
            <a:srgbClr val="F7ECD6"/>
          </a:solidFill>
          <a:ln w="9525">
            <a:solidFill>
              <a:srgbClr val="D6C29A"/>
            </a:solidFill>
            <a:prstDash val="dash"/>
          </a:ln>
        </p:spPr>
      </p:sp>
      <p:sp>
        <p:nvSpPr>
          <p:cNvPr id="28" name="texto-133"/>
          <p:cNvSpPr txBox="1"/>
          <p:nvPr/>
        </p:nvSpPr>
        <p:spPr>
          <a:xfrm>
            <a:off x="822960" y="443484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Módulos do backend</a:t>
            </a:r>
            <a:endParaRPr lang="en-US" sz="1500" dirty="0"/>
          </a:p>
        </p:txBody>
      </p:sp>
      <p:sp>
        <p:nvSpPr>
          <p:cNvPr id="29" name="cartao-134"/>
          <p:cNvSpPr/>
          <p:nvPr/>
        </p:nvSpPr>
        <p:spPr>
          <a:xfrm>
            <a:off x="2468880" y="4636008"/>
            <a:ext cx="2099234" cy="83210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30" name="texto-135"/>
          <p:cNvSpPr txBox="1"/>
          <p:nvPr/>
        </p:nvSpPr>
        <p:spPr>
          <a:xfrm>
            <a:off x="2651760" y="4727448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crypto/</a:t>
            </a:r>
            <a:endParaRPr lang="en-US" sz="1400" dirty="0"/>
          </a:p>
        </p:txBody>
      </p:sp>
      <p:sp>
        <p:nvSpPr>
          <p:cNvPr id="31" name="texto-136"/>
          <p:cNvSpPr txBox="1"/>
          <p:nvPr/>
        </p:nvSpPr>
        <p:spPr>
          <a:xfrm>
            <a:off x="2651760" y="5020056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Scrypt, HKDF, AES-GCM</a:t>
            </a:r>
            <a:endParaRPr lang="en-US" sz="1300" dirty="0"/>
          </a:p>
        </p:txBody>
      </p:sp>
      <p:sp>
        <p:nvSpPr>
          <p:cNvPr id="32" name="cartao-137"/>
          <p:cNvSpPr/>
          <p:nvPr/>
        </p:nvSpPr>
        <p:spPr>
          <a:xfrm>
            <a:off x="4750994" y="4636008"/>
            <a:ext cx="2099234" cy="83210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33" name="texto-138"/>
          <p:cNvSpPr txBox="1"/>
          <p:nvPr/>
        </p:nvSpPr>
        <p:spPr>
          <a:xfrm>
            <a:off x="4933874" y="4727448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steganography/</a:t>
            </a:r>
            <a:endParaRPr lang="en-US" sz="1400" dirty="0"/>
          </a:p>
        </p:txBody>
      </p:sp>
      <p:sp>
        <p:nvSpPr>
          <p:cNvPr id="34" name="texto-139"/>
          <p:cNvSpPr txBox="1"/>
          <p:nvPr/>
        </p:nvSpPr>
        <p:spPr>
          <a:xfrm>
            <a:off x="4933874" y="5020056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LSB, cabeçalho, capacidade</a:t>
            </a:r>
            <a:endParaRPr lang="en-US" sz="1300" dirty="0"/>
          </a:p>
        </p:txBody>
      </p:sp>
      <p:sp>
        <p:nvSpPr>
          <p:cNvPr id="35" name="cartao-140"/>
          <p:cNvSpPr/>
          <p:nvPr/>
        </p:nvSpPr>
        <p:spPr>
          <a:xfrm>
            <a:off x="7033108" y="4636008"/>
            <a:ext cx="2099234" cy="83210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36" name="texto-141"/>
          <p:cNvSpPr txBox="1"/>
          <p:nvPr/>
        </p:nvSpPr>
        <p:spPr>
          <a:xfrm>
            <a:off x="7215988" y="4727448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bundle/</a:t>
            </a:r>
            <a:endParaRPr lang="en-US" sz="1400" dirty="0"/>
          </a:p>
        </p:txBody>
      </p:sp>
      <p:sp>
        <p:nvSpPr>
          <p:cNvPr id="37" name="texto-142"/>
          <p:cNvSpPr txBox="1"/>
          <p:nvPr/>
        </p:nvSpPr>
        <p:spPr>
          <a:xfrm>
            <a:off x="7215988" y="5020056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pacote ZIP + SHA-256</a:t>
            </a:r>
            <a:endParaRPr lang="en-US" sz="1300" dirty="0"/>
          </a:p>
        </p:txBody>
      </p:sp>
      <p:sp>
        <p:nvSpPr>
          <p:cNvPr id="38" name="cartao-143"/>
          <p:cNvSpPr/>
          <p:nvPr/>
        </p:nvSpPr>
        <p:spPr>
          <a:xfrm>
            <a:off x="9315221" y="4636008"/>
            <a:ext cx="2099234" cy="83210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39" name="texto-144"/>
          <p:cNvSpPr txBox="1"/>
          <p:nvPr/>
        </p:nvSpPr>
        <p:spPr>
          <a:xfrm>
            <a:off x="9498101" y="4727448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400" dirty="0"/>
          </a:p>
        </p:txBody>
      </p:sp>
      <p:sp>
        <p:nvSpPr>
          <p:cNvPr id="40" name="texto-145"/>
          <p:cNvSpPr txBox="1"/>
          <p:nvPr/>
        </p:nvSpPr>
        <p:spPr>
          <a:xfrm>
            <a:off x="9498101" y="5020056"/>
            <a:ext cx="1733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ocultar, extrair, histórico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03 · ESTRUTURA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Organização do código</a:t>
            </a:r>
            <a:endParaRPr lang="en-US" sz="3600" dirty="0"/>
          </a:p>
        </p:txBody>
      </p:sp>
      <p:sp>
        <p:nvSpPr>
          <p:cNvPr id="4" name="chip-148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5" name="Image 0" descr="fo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1844345"/>
            <a:ext cx="197510" cy="197510"/>
          </a:xfrm>
          <a:prstGeom prst="rect">
            <a:avLst/>
          </a:prstGeom>
        </p:spPr>
      </p:pic>
      <p:sp>
        <p:nvSpPr>
          <p:cNvPr id="6" name="texto-149"/>
          <p:cNvSpPr txBox="1"/>
          <p:nvPr/>
        </p:nvSpPr>
        <p:spPr>
          <a:xfrm>
            <a:off x="1097280" y="17373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backend/app</a:t>
            </a:r>
            <a:r>
              <a:rPr lang="en-US" sz="1600" dirty="0">
                <a:solidFill>
                  <a:schemeClr val="accent5"/>
                </a:solidFill>
              </a:rPr>
              <a:t>  Python</a:t>
            </a:r>
            <a:endParaRPr lang="en-US" sz="1600" dirty="0"/>
          </a:p>
        </p:txBody>
      </p:sp>
      <p:sp>
        <p:nvSpPr>
          <p:cNvPr id="7" name="cartao-150"/>
          <p:cNvSpPr/>
          <p:nvPr/>
        </p:nvSpPr>
        <p:spPr>
          <a:xfrm>
            <a:off x="548640" y="2286000"/>
            <a:ext cx="56235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8" name="texto-151"/>
          <p:cNvSpPr txBox="1"/>
          <p:nvPr/>
        </p:nvSpPr>
        <p:spPr>
          <a:xfrm>
            <a:off x="731520" y="22860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1400" dirty="0"/>
          </a:p>
        </p:txBody>
      </p:sp>
      <p:sp>
        <p:nvSpPr>
          <p:cNvPr id="9" name="texto-152"/>
          <p:cNvSpPr txBox="1"/>
          <p:nvPr/>
        </p:nvSpPr>
        <p:spPr>
          <a:xfrm>
            <a:off x="2606040" y="2286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rotas: ocultar, extrair, histórico</a:t>
            </a:r>
            <a:endParaRPr lang="en-US" sz="1400" dirty="0"/>
          </a:p>
        </p:txBody>
      </p:sp>
      <p:sp>
        <p:nvSpPr>
          <p:cNvPr id="10" name="cartao-153"/>
          <p:cNvSpPr/>
          <p:nvPr/>
        </p:nvSpPr>
        <p:spPr>
          <a:xfrm>
            <a:off x="548640" y="2889504"/>
            <a:ext cx="56235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11" name="texto-154"/>
          <p:cNvSpPr txBox="1"/>
          <p:nvPr/>
        </p:nvSpPr>
        <p:spPr>
          <a:xfrm>
            <a:off x="731520" y="2889504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crypto/</a:t>
            </a:r>
            <a:endParaRPr lang="en-US" sz="1400" dirty="0"/>
          </a:p>
        </p:txBody>
      </p:sp>
      <p:sp>
        <p:nvSpPr>
          <p:cNvPr id="12" name="texto-155"/>
          <p:cNvSpPr txBox="1"/>
          <p:nvPr/>
        </p:nvSpPr>
        <p:spPr>
          <a:xfrm>
            <a:off x="2606040" y="288950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Scrypt + HKDF e AES-256-GCM</a:t>
            </a:r>
            <a:endParaRPr lang="en-US" sz="1400" dirty="0"/>
          </a:p>
        </p:txBody>
      </p:sp>
      <p:sp>
        <p:nvSpPr>
          <p:cNvPr id="13" name="cartao-156"/>
          <p:cNvSpPr/>
          <p:nvPr/>
        </p:nvSpPr>
        <p:spPr>
          <a:xfrm>
            <a:off x="548640" y="3493008"/>
            <a:ext cx="56235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14" name="texto-157"/>
          <p:cNvSpPr txBox="1"/>
          <p:nvPr/>
        </p:nvSpPr>
        <p:spPr>
          <a:xfrm>
            <a:off x="731520" y="349300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steganography/</a:t>
            </a:r>
            <a:endParaRPr lang="en-US" sz="1400" dirty="0"/>
          </a:p>
        </p:txBody>
      </p:sp>
      <p:sp>
        <p:nvSpPr>
          <p:cNvPr id="15" name="texto-158"/>
          <p:cNvSpPr txBox="1"/>
          <p:nvPr/>
        </p:nvSpPr>
        <p:spPr>
          <a:xfrm>
            <a:off x="2606040" y="34930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LSB, cabeçalho e capacidade</a:t>
            </a:r>
            <a:endParaRPr lang="en-US" sz="1400" dirty="0"/>
          </a:p>
        </p:txBody>
      </p:sp>
      <p:sp>
        <p:nvSpPr>
          <p:cNvPr id="16" name="cartao-159"/>
          <p:cNvSpPr/>
          <p:nvPr/>
        </p:nvSpPr>
        <p:spPr>
          <a:xfrm>
            <a:off x="548640" y="4096512"/>
            <a:ext cx="56235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17" name="texto-160"/>
          <p:cNvSpPr txBox="1"/>
          <p:nvPr/>
        </p:nvSpPr>
        <p:spPr>
          <a:xfrm>
            <a:off x="731520" y="409651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bundle/</a:t>
            </a:r>
            <a:endParaRPr lang="en-US" sz="1400" dirty="0"/>
          </a:p>
        </p:txBody>
      </p:sp>
      <p:sp>
        <p:nvSpPr>
          <p:cNvPr id="18" name="texto-161"/>
          <p:cNvSpPr txBox="1"/>
          <p:nvPr/>
        </p:nvSpPr>
        <p:spPr>
          <a:xfrm>
            <a:off x="2606040" y="409651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pacote ZIP com SHA-256</a:t>
            </a:r>
            <a:endParaRPr lang="en-US" sz="1400" dirty="0"/>
          </a:p>
        </p:txBody>
      </p:sp>
      <p:sp>
        <p:nvSpPr>
          <p:cNvPr id="19" name="cartao-162"/>
          <p:cNvSpPr/>
          <p:nvPr/>
        </p:nvSpPr>
        <p:spPr>
          <a:xfrm>
            <a:off x="548640" y="4700016"/>
            <a:ext cx="56235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20" name="texto-163"/>
          <p:cNvSpPr txBox="1"/>
          <p:nvPr/>
        </p:nvSpPr>
        <p:spPr>
          <a:xfrm>
            <a:off x="731520" y="470001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400" dirty="0"/>
          </a:p>
        </p:txBody>
      </p:sp>
      <p:sp>
        <p:nvSpPr>
          <p:cNvPr id="21" name="texto-164"/>
          <p:cNvSpPr txBox="1"/>
          <p:nvPr/>
        </p:nvSpPr>
        <p:spPr>
          <a:xfrm>
            <a:off x="2606040" y="470001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fluxos completos e Supabase</a:t>
            </a:r>
            <a:endParaRPr lang="en-US" sz="1400" dirty="0"/>
          </a:p>
        </p:txBody>
      </p:sp>
      <p:sp>
        <p:nvSpPr>
          <p:cNvPr id="22" name="cartao-165"/>
          <p:cNvSpPr/>
          <p:nvPr/>
        </p:nvSpPr>
        <p:spPr>
          <a:xfrm>
            <a:off x="548640" y="5303520"/>
            <a:ext cx="56235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23" name="texto-166"/>
          <p:cNvSpPr txBox="1"/>
          <p:nvPr/>
        </p:nvSpPr>
        <p:spPr>
          <a:xfrm>
            <a:off x="731520" y="530352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400" dirty="0"/>
          </a:p>
        </p:txBody>
      </p:sp>
      <p:sp>
        <p:nvSpPr>
          <p:cNvPr id="24" name="texto-167"/>
          <p:cNvSpPr txBox="1"/>
          <p:nvPr/>
        </p:nvSpPr>
        <p:spPr>
          <a:xfrm>
            <a:off x="2606040" y="53035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configuração, segurança, limites</a:t>
            </a:r>
            <a:endParaRPr lang="en-US" sz="1400" dirty="0"/>
          </a:p>
        </p:txBody>
      </p:sp>
      <p:sp>
        <p:nvSpPr>
          <p:cNvPr id="25" name="chip-168"/>
          <p:cNvSpPr/>
          <p:nvPr/>
        </p:nvSpPr>
        <p:spPr>
          <a:xfrm>
            <a:off x="6492240" y="1737360"/>
            <a:ext cx="411480" cy="4114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26" name="Image 1" descr="fo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25" y="1844345"/>
            <a:ext cx="197510" cy="197510"/>
          </a:xfrm>
          <a:prstGeom prst="rect">
            <a:avLst/>
          </a:prstGeom>
        </p:spPr>
      </p:pic>
      <p:sp>
        <p:nvSpPr>
          <p:cNvPr id="27" name="texto-169"/>
          <p:cNvSpPr txBox="1"/>
          <p:nvPr/>
        </p:nvSpPr>
        <p:spPr>
          <a:xfrm>
            <a:off x="7040880" y="173736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frontend/src</a:t>
            </a:r>
            <a:r>
              <a:rPr lang="en-US" sz="1600" dirty="0">
                <a:solidFill>
                  <a:schemeClr val="accent5"/>
                </a:solidFill>
              </a:rPr>
              <a:t>  React</a:t>
            </a:r>
            <a:endParaRPr lang="en-US" sz="1600" dirty="0"/>
          </a:p>
        </p:txBody>
      </p:sp>
      <p:sp>
        <p:nvSpPr>
          <p:cNvPr id="28" name="cartao-170"/>
          <p:cNvSpPr/>
          <p:nvPr/>
        </p:nvSpPr>
        <p:spPr>
          <a:xfrm>
            <a:off x="6492240" y="2286000"/>
            <a:ext cx="5150815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29" name="texto-171"/>
          <p:cNvSpPr txBox="1"/>
          <p:nvPr/>
        </p:nvSpPr>
        <p:spPr>
          <a:xfrm>
            <a:off x="6675120" y="228600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1400" dirty="0"/>
          </a:p>
        </p:txBody>
      </p:sp>
      <p:sp>
        <p:nvSpPr>
          <p:cNvPr id="30" name="texto-172"/>
          <p:cNvSpPr txBox="1"/>
          <p:nvPr/>
        </p:nvSpPr>
        <p:spPr>
          <a:xfrm>
            <a:off x="8229600" y="2286000"/>
            <a:ext cx="3276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Início, Painel, Ocultar, Extrair…</a:t>
            </a:r>
            <a:endParaRPr lang="en-US" sz="1400" dirty="0"/>
          </a:p>
        </p:txBody>
      </p:sp>
      <p:sp>
        <p:nvSpPr>
          <p:cNvPr id="31" name="cartao-173"/>
          <p:cNvSpPr/>
          <p:nvPr/>
        </p:nvSpPr>
        <p:spPr>
          <a:xfrm>
            <a:off x="6492240" y="2889504"/>
            <a:ext cx="5150815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32" name="texto-174"/>
          <p:cNvSpPr txBox="1"/>
          <p:nvPr/>
        </p:nvSpPr>
        <p:spPr>
          <a:xfrm>
            <a:off x="6675120" y="288950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400" dirty="0"/>
          </a:p>
        </p:txBody>
      </p:sp>
      <p:sp>
        <p:nvSpPr>
          <p:cNvPr id="33" name="texto-175"/>
          <p:cNvSpPr txBox="1"/>
          <p:nvPr/>
        </p:nvSpPr>
        <p:spPr>
          <a:xfrm>
            <a:off x="8229600" y="2889504"/>
            <a:ext cx="3276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capacidade, passos, senha</a:t>
            </a:r>
            <a:endParaRPr lang="en-US" sz="1400" dirty="0"/>
          </a:p>
        </p:txBody>
      </p:sp>
      <p:sp>
        <p:nvSpPr>
          <p:cNvPr id="34" name="cartao-176"/>
          <p:cNvSpPr/>
          <p:nvPr/>
        </p:nvSpPr>
        <p:spPr>
          <a:xfrm>
            <a:off x="6492240" y="3493008"/>
            <a:ext cx="5150815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35" name="texto-177"/>
          <p:cNvSpPr txBox="1"/>
          <p:nvPr/>
        </p:nvSpPr>
        <p:spPr>
          <a:xfrm>
            <a:off x="6675120" y="3493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</a:t>
            </a:r>
            <a:endParaRPr lang="en-US" sz="1400" dirty="0"/>
          </a:p>
        </p:txBody>
      </p:sp>
      <p:sp>
        <p:nvSpPr>
          <p:cNvPr id="36" name="texto-178"/>
          <p:cNvSpPr txBox="1"/>
          <p:nvPr/>
        </p:nvSpPr>
        <p:spPr>
          <a:xfrm>
            <a:off x="8229600" y="3493008"/>
            <a:ext cx="3276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sessão, tema e avisos</a:t>
            </a:r>
            <a:endParaRPr lang="en-US" sz="1400" dirty="0"/>
          </a:p>
        </p:txBody>
      </p:sp>
      <p:sp>
        <p:nvSpPr>
          <p:cNvPr id="37" name="chip-179"/>
          <p:cNvSpPr/>
          <p:nvPr/>
        </p:nvSpPr>
        <p:spPr>
          <a:xfrm>
            <a:off x="6492240" y="4224528"/>
            <a:ext cx="411480" cy="4114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38" name="Image 2" descr="fo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25" y="4331513"/>
            <a:ext cx="197510" cy="197510"/>
          </a:xfrm>
          <a:prstGeom prst="rect">
            <a:avLst/>
          </a:prstGeom>
        </p:spPr>
      </p:pic>
      <p:sp>
        <p:nvSpPr>
          <p:cNvPr id="39" name="texto-180"/>
          <p:cNvSpPr txBox="1"/>
          <p:nvPr/>
        </p:nvSpPr>
        <p:spPr>
          <a:xfrm>
            <a:off x="7040880" y="4224528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Outros</a:t>
            </a:r>
            <a:r>
              <a:rPr lang="en-US" sz="1600" dirty="0">
                <a:solidFill>
                  <a:schemeClr val="accent5"/>
                </a:solidFill>
              </a:rPr>
              <a:t>  base de dados e documentação</a:t>
            </a:r>
            <a:endParaRPr lang="en-US" sz="1600" dirty="0"/>
          </a:p>
        </p:txBody>
      </p:sp>
      <p:sp>
        <p:nvSpPr>
          <p:cNvPr id="40" name="cartao-181"/>
          <p:cNvSpPr/>
          <p:nvPr/>
        </p:nvSpPr>
        <p:spPr>
          <a:xfrm>
            <a:off x="6492240" y="4773168"/>
            <a:ext cx="5150815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41" name="texto-182"/>
          <p:cNvSpPr txBox="1"/>
          <p:nvPr/>
        </p:nvSpPr>
        <p:spPr>
          <a:xfrm>
            <a:off x="6675120" y="4773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supabase/</a:t>
            </a:r>
            <a:endParaRPr lang="en-US" sz="1400" dirty="0"/>
          </a:p>
        </p:txBody>
      </p:sp>
      <p:sp>
        <p:nvSpPr>
          <p:cNvPr id="42" name="texto-183"/>
          <p:cNvSpPr txBox="1"/>
          <p:nvPr/>
        </p:nvSpPr>
        <p:spPr>
          <a:xfrm>
            <a:off x="8229600" y="4773168"/>
            <a:ext cx="3276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tabelas e regras RLS</a:t>
            </a:r>
            <a:endParaRPr lang="en-US" sz="1400" dirty="0"/>
          </a:p>
        </p:txBody>
      </p:sp>
      <p:sp>
        <p:nvSpPr>
          <p:cNvPr id="43" name="cartao-184"/>
          <p:cNvSpPr/>
          <p:nvPr/>
        </p:nvSpPr>
        <p:spPr>
          <a:xfrm>
            <a:off x="6492240" y="5376672"/>
            <a:ext cx="5150815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</p:spPr>
      </p:sp>
      <p:sp>
        <p:nvSpPr>
          <p:cNvPr id="44" name="texto-185"/>
          <p:cNvSpPr txBox="1"/>
          <p:nvPr/>
        </p:nvSpPr>
        <p:spPr>
          <a:xfrm>
            <a:off x="6675120" y="53766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400" dirty="0"/>
          </a:p>
        </p:txBody>
      </p:sp>
      <p:sp>
        <p:nvSpPr>
          <p:cNvPr id="45" name="texto-186"/>
          <p:cNvSpPr txBox="1"/>
          <p:nvPr/>
        </p:nvSpPr>
        <p:spPr>
          <a:xfrm>
            <a:off x="8229600" y="5376672"/>
            <a:ext cx="3276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formato, ameaças, testes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04 · COMO FUNCIONA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Ocultar, em cinco passos</a:t>
            </a:r>
            <a:endParaRPr lang="en-US" sz="3600" dirty="0"/>
          </a:p>
        </p:txBody>
      </p:sp>
      <p:sp>
        <p:nvSpPr>
          <p:cNvPr id="4" name="cartao-187"/>
          <p:cNvSpPr/>
          <p:nvPr/>
        </p:nvSpPr>
        <p:spPr>
          <a:xfrm>
            <a:off x="548640" y="1783080"/>
            <a:ext cx="2057949" cy="3017520"/>
          </a:xfrm>
          <a:prstGeom prst="roundRect">
            <a:avLst>
              <a:gd name="adj" fmla="val 6221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5" name="texto-188"/>
          <p:cNvSpPr txBox="1"/>
          <p:nvPr/>
        </p:nvSpPr>
        <p:spPr>
          <a:xfrm>
            <a:off x="1920789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6C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chip-189"/>
          <p:cNvSpPr/>
          <p:nvPr/>
        </p:nvSpPr>
        <p:spPr>
          <a:xfrm>
            <a:off x="804672" y="205740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7" name="Image 0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23821"/>
            <a:ext cx="307238" cy="307238"/>
          </a:xfrm>
          <a:prstGeom prst="rect">
            <a:avLst/>
          </a:prstGeom>
        </p:spPr>
      </p:pic>
      <p:sp>
        <p:nvSpPr>
          <p:cNvPr id="8" name="texto-190"/>
          <p:cNvSpPr txBox="1"/>
          <p:nvPr/>
        </p:nvSpPr>
        <p:spPr>
          <a:xfrm>
            <a:off x="804672" y="2834640"/>
            <a:ext cx="1600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Imagem + conteúdo</a:t>
            </a:r>
            <a:endParaRPr lang="en-US" sz="1700" dirty="0"/>
          </a:p>
        </p:txBody>
      </p:sp>
      <p:sp>
        <p:nvSpPr>
          <p:cNvPr id="9" name="texto-191"/>
          <p:cNvSpPr txBox="1"/>
          <p:nvPr/>
        </p:nvSpPr>
        <p:spPr>
          <a:xfrm>
            <a:off x="804672" y="3520440"/>
            <a:ext cx="16007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Escolhe uma imagem e junta texto e/ou ficheiros.</a:t>
            </a:r>
            <a:endParaRPr lang="en-US" sz="1400" dirty="0"/>
          </a:p>
        </p:txBody>
      </p:sp>
      <p:sp>
        <p:nvSpPr>
          <p:cNvPr id="10" name="cartao-192"/>
          <p:cNvSpPr/>
          <p:nvPr/>
        </p:nvSpPr>
        <p:spPr>
          <a:xfrm>
            <a:off x="2807757" y="1783080"/>
            <a:ext cx="2057949" cy="3017520"/>
          </a:xfrm>
          <a:prstGeom prst="roundRect">
            <a:avLst>
              <a:gd name="adj" fmla="val 6221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1" name="texto-193"/>
          <p:cNvSpPr txBox="1"/>
          <p:nvPr/>
        </p:nvSpPr>
        <p:spPr>
          <a:xfrm>
            <a:off x="4179905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6C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chip-194"/>
          <p:cNvSpPr/>
          <p:nvPr/>
        </p:nvSpPr>
        <p:spPr>
          <a:xfrm>
            <a:off x="3063789" y="205740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13" name="Image 1" descr="k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209" y="2223821"/>
            <a:ext cx="307238" cy="307238"/>
          </a:xfrm>
          <a:prstGeom prst="rect">
            <a:avLst/>
          </a:prstGeom>
        </p:spPr>
      </p:pic>
      <p:sp>
        <p:nvSpPr>
          <p:cNvPr id="14" name="texto-195"/>
          <p:cNvSpPr txBox="1"/>
          <p:nvPr/>
        </p:nvSpPr>
        <p:spPr>
          <a:xfrm>
            <a:off x="3063789" y="2834640"/>
            <a:ext cx="1600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Senha → chave</a:t>
            </a:r>
            <a:endParaRPr lang="en-US" sz="1700" dirty="0"/>
          </a:p>
        </p:txBody>
      </p:sp>
      <p:sp>
        <p:nvSpPr>
          <p:cNvPr id="15" name="texto-196"/>
          <p:cNvSpPr txBox="1"/>
          <p:nvPr/>
        </p:nvSpPr>
        <p:spPr>
          <a:xfrm>
            <a:off x="3063789" y="3520440"/>
            <a:ext cx="16007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 Scrypt transforma a senha numa chave de 256 bits.</a:t>
            </a:r>
            <a:endParaRPr lang="en-US" sz="1400" dirty="0"/>
          </a:p>
        </p:txBody>
      </p:sp>
      <p:sp>
        <p:nvSpPr>
          <p:cNvPr id="16" name="cartao-197"/>
          <p:cNvSpPr/>
          <p:nvPr/>
        </p:nvSpPr>
        <p:spPr>
          <a:xfrm>
            <a:off x="5066873" y="1783080"/>
            <a:ext cx="2057949" cy="3017520"/>
          </a:xfrm>
          <a:prstGeom prst="roundRect">
            <a:avLst>
              <a:gd name="adj" fmla="val 6221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7" name="texto-198"/>
          <p:cNvSpPr txBox="1"/>
          <p:nvPr/>
        </p:nvSpPr>
        <p:spPr>
          <a:xfrm>
            <a:off x="6439022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6C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chip-199"/>
          <p:cNvSpPr/>
          <p:nvPr/>
        </p:nvSpPr>
        <p:spPr>
          <a:xfrm>
            <a:off x="5322905" y="205740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19" name="Image 2" descr="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326" y="2223821"/>
            <a:ext cx="307238" cy="307238"/>
          </a:xfrm>
          <a:prstGeom prst="rect">
            <a:avLst/>
          </a:prstGeom>
        </p:spPr>
      </p:pic>
      <p:sp>
        <p:nvSpPr>
          <p:cNvPr id="20" name="texto-200"/>
          <p:cNvSpPr txBox="1"/>
          <p:nvPr/>
        </p:nvSpPr>
        <p:spPr>
          <a:xfrm>
            <a:off x="5322905" y="2834640"/>
            <a:ext cx="1600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AES-256-GCM</a:t>
            </a:r>
            <a:endParaRPr lang="en-US" sz="1700" dirty="0"/>
          </a:p>
        </p:txBody>
      </p:sp>
      <p:sp>
        <p:nvSpPr>
          <p:cNvPr id="21" name="texto-201"/>
          <p:cNvSpPr txBox="1"/>
          <p:nvPr/>
        </p:nvSpPr>
        <p:spPr>
          <a:xfrm>
            <a:off x="5322905" y="3520440"/>
            <a:ext cx="16007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 conteúdo é cifrado e autenticado antes de ser escondido.</a:t>
            </a:r>
            <a:endParaRPr lang="en-US" sz="1400" dirty="0"/>
          </a:p>
        </p:txBody>
      </p:sp>
      <p:sp>
        <p:nvSpPr>
          <p:cNvPr id="22" name="cartao-202"/>
          <p:cNvSpPr/>
          <p:nvPr/>
        </p:nvSpPr>
        <p:spPr>
          <a:xfrm>
            <a:off x="7325990" y="1783080"/>
            <a:ext cx="2057949" cy="3017520"/>
          </a:xfrm>
          <a:prstGeom prst="roundRect">
            <a:avLst>
              <a:gd name="adj" fmla="val 6221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23" name="texto-203"/>
          <p:cNvSpPr txBox="1"/>
          <p:nvPr/>
        </p:nvSpPr>
        <p:spPr>
          <a:xfrm>
            <a:off x="8698139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6C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chip-204"/>
          <p:cNvSpPr/>
          <p:nvPr/>
        </p:nvSpPr>
        <p:spPr>
          <a:xfrm>
            <a:off x="7582022" y="205740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25" name="Image 3" descr="gri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443" y="2223821"/>
            <a:ext cx="307238" cy="307238"/>
          </a:xfrm>
          <a:prstGeom prst="rect">
            <a:avLst/>
          </a:prstGeom>
        </p:spPr>
      </p:pic>
      <p:sp>
        <p:nvSpPr>
          <p:cNvPr id="26" name="texto-205"/>
          <p:cNvSpPr txBox="1"/>
          <p:nvPr/>
        </p:nvSpPr>
        <p:spPr>
          <a:xfrm>
            <a:off x="7582022" y="2834640"/>
            <a:ext cx="1600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LSB espalhado</a:t>
            </a:r>
            <a:endParaRPr lang="en-US" sz="1700" dirty="0"/>
          </a:p>
        </p:txBody>
      </p:sp>
      <p:sp>
        <p:nvSpPr>
          <p:cNvPr id="27" name="texto-206"/>
          <p:cNvSpPr txBox="1"/>
          <p:nvPr/>
        </p:nvSpPr>
        <p:spPr>
          <a:xfrm>
            <a:off x="7582022" y="3520440"/>
            <a:ext cx="16007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Os bits cifrados vão para posições pseudo-aleatórias de R, G e B.</a:t>
            </a:r>
            <a:endParaRPr lang="en-US" sz="1400" dirty="0"/>
          </a:p>
        </p:txBody>
      </p:sp>
      <p:sp>
        <p:nvSpPr>
          <p:cNvPr id="28" name="cartao-207"/>
          <p:cNvSpPr/>
          <p:nvPr/>
        </p:nvSpPr>
        <p:spPr>
          <a:xfrm>
            <a:off x="9585107" y="1783080"/>
            <a:ext cx="2057949" cy="3017520"/>
          </a:xfrm>
          <a:prstGeom prst="roundRect">
            <a:avLst>
              <a:gd name="adj" fmla="val 6221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29" name="texto-208"/>
          <p:cNvSpPr txBox="1"/>
          <p:nvPr/>
        </p:nvSpPr>
        <p:spPr>
          <a:xfrm>
            <a:off x="10957255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6C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30" name="chip-209"/>
          <p:cNvSpPr/>
          <p:nvPr/>
        </p:nvSpPr>
        <p:spPr>
          <a:xfrm>
            <a:off x="9841139" y="205740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31" name="Image 4" descr="downloa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7559" y="2223821"/>
            <a:ext cx="307238" cy="307238"/>
          </a:xfrm>
          <a:prstGeom prst="rect">
            <a:avLst/>
          </a:prstGeom>
        </p:spPr>
      </p:pic>
      <p:sp>
        <p:nvSpPr>
          <p:cNvPr id="32" name="texto-210"/>
          <p:cNvSpPr txBox="1"/>
          <p:nvPr/>
        </p:nvSpPr>
        <p:spPr>
          <a:xfrm>
            <a:off x="9841139" y="2834640"/>
            <a:ext cx="1600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PNG real</a:t>
            </a:r>
            <a:endParaRPr lang="en-US" sz="1700" dirty="0"/>
          </a:p>
        </p:txBody>
      </p:sp>
      <p:sp>
        <p:nvSpPr>
          <p:cNvPr id="33" name="texto-211"/>
          <p:cNvSpPr txBox="1"/>
          <p:nvPr/>
        </p:nvSpPr>
        <p:spPr>
          <a:xfrm>
            <a:off x="9841139" y="3520440"/>
            <a:ext cx="16007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Descarrega um PNG que parece igual ao original.</a:t>
            </a:r>
            <a:endParaRPr lang="en-US" sz="1400" dirty="0"/>
          </a:p>
        </p:txBody>
      </p:sp>
      <p:sp>
        <p:nvSpPr>
          <p:cNvPr id="34" name="cartao-21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4737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chip-213"/>
          <p:cNvSpPr/>
          <p:nvPr/>
        </p:nvSpPr>
        <p:spPr>
          <a:xfrm>
            <a:off x="777240" y="527608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bg1"/>
          </a:solidFill>
          <a:ln/>
        </p:spPr>
      </p:sp>
      <p:pic>
        <p:nvPicPr>
          <p:cNvPr id="36" name="Image 5" descr="chec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86" y="5418734"/>
            <a:ext cx="263347" cy="263347"/>
          </a:xfrm>
          <a:prstGeom prst="rect">
            <a:avLst/>
          </a:prstGeom>
        </p:spPr>
      </p:pic>
      <p:sp>
        <p:nvSpPr>
          <p:cNvPr id="37" name="texto-214"/>
          <p:cNvSpPr txBox="1"/>
          <p:nvPr/>
        </p:nvSpPr>
        <p:spPr>
          <a:xfrm>
            <a:off x="1508760" y="512064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Verificação final: </a:t>
            </a:r>
            <a:r>
              <a:rPr lang="en-US" sz="1600" dirty="0">
                <a:solidFill>
                  <a:schemeClr val="tx1"/>
                </a:solidFill>
              </a:rPr>
              <a:t>antes de devolver, o servidor volta a ler o PNG e confirma que os dados saem intactos.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06 · SEGURANÇA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766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e testes</a:t>
            </a:r>
            <a:endParaRPr lang="en-US" sz="3600" dirty="0"/>
          </a:p>
        </p:txBody>
      </p:sp>
      <p:sp>
        <p:nvSpPr>
          <p:cNvPr id="4" name="cartao-388"/>
          <p:cNvSpPr/>
          <p:nvPr/>
        </p:nvSpPr>
        <p:spPr>
          <a:xfrm>
            <a:off x="548640" y="1737360"/>
            <a:ext cx="3383280" cy="1984248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5" name="chip-389"/>
          <p:cNvSpPr/>
          <p:nvPr/>
        </p:nvSpPr>
        <p:spPr>
          <a:xfrm>
            <a:off x="822960" y="1993392"/>
            <a:ext cx="530352" cy="530352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6" name="Image 0" descr="k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2131284"/>
            <a:ext cx="254569" cy="254569"/>
          </a:xfrm>
          <a:prstGeom prst="rect">
            <a:avLst/>
          </a:prstGeom>
        </p:spPr>
      </p:pic>
      <p:sp>
        <p:nvSpPr>
          <p:cNvPr id="7" name="texto-390"/>
          <p:cNvSpPr txBox="1"/>
          <p:nvPr/>
        </p:nvSpPr>
        <p:spPr>
          <a:xfrm>
            <a:off x="822960" y="26334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Senha nunca guardada</a:t>
            </a:r>
            <a:endParaRPr lang="en-US" sz="1700" dirty="0"/>
          </a:p>
        </p:txBody>
      </p:sp>
      <p:sp>
        <p:nvSpPr>
          <p:cNvPr id="8" name="texto-391"/>
          <p:cNvSpPr txBox="1"/>
          <p:nvPr/>
        </p:nvSpPr>
        <p:spPr>
          <a:xfrm>
            <a:off x="822960" y="29809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Usada só em memória: não vai para a base de dados nem para os registos.</a:t>
            </a:r>
            <a:endParaRPr lang="en-US" sz="1400" dirty="0"/>
          </a:p>
        </p:txBody>
      </p:sp>
      <p:sp>
        <p:nvSpPr>
          <p:cNvPr id="9" name="cartao-392"/>
          <p:cNvSpPr/>
          <p:nvPr/>
        </p:nvSpPr>
        <p:spPr>
          <a:xfrm>
            <a:off x="4206240" y="1737360"/>
            <a:ext cx="3383280" cy="1984248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0" name="chip-393"/>
          <p:cNvSpPr/>
          <p:nvPr/>
        </p:nvSpPr>
        <p:spPr>
          <a:xfrm>
            <a:off x="4480560" y="1993392"/>
            <a:ext cx="530352" cy="530352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11" name="Image 1" descr="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452" y="2131284"/>
            <a:ext cx="254569" cy="254569"/>
          </a:xfrm>
          <a:prstGeom prst="rect">
            <a:avLst/>
          </a:prstGeom>
        </p:spPr>
      </p:pic>
      <p:sp>
        <p:nvSpPr>
          <p:cNvPr id="12" name="texto-394"/>
          <p:cNvSpPr txBox="1"/>
          <p:nvPr/>
        </p:nvSpPr>
        <p:spPr>
          <a:xfrm>
            <a:off x="4480560" y="26334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Scrypt + 10 caracteres</a:t>
            </a:r>
            <a:endParaRPr lang="en-US" sz="1700" dirty="0"/>
          </a:p>
        </p:txBody>
      </p:sp>
      <p:sp>
        <p:nvSpPr>
          <p:cNvPr id="13" name="texto-395"/>
          <p:cNvSpPr txBox="1"/>
          <p:nvPr/>
        </p:nvSpPr>
        <p:spPr>
          <a:xfrm>
            <a:off x="4480560" y="29809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tentativa custa ≈ 32 MiB de memória: trava ataques em massa.</a:t>
            </a:r>
            <a:endParaRPr lang="en-US" sz="1400" dirty="0"/>
          </a:p>
        </p:txBody>
      </p:sp>
      <p:sp>
        <p:nvSpPr>
          <p:cNvPr id="14" name="cartao-396"/>
          <p:cNvSpPr/>
          <p:nvPr/>
        </p:nvSpPr>
        <p:spPr>
          <a:xfrm>
            <a:off x="548640" y="3995928"/>
            <a:ext cx="3383280" cy="1984248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15" name="chip-397"/>
          <p:cNvSpPr/>
          <p:nvPr/>
        </p:nvSpPr>
        <p:spPr>
          <a:xfrm>
            <a:off x="822960" y="4251960"/>
            <a:ext cx="530352" cy="530352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16" name="Image 2" descr="peop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4389852"/>
            <a:ext cx="254569" cy="254569"/>
          </a:xfrm>
          <a:prstGeom prst="rect">
            <a:avLst/>
          </a:prstGeom>
        </p:spPr>
      </p:pic>
      <p:sp>
        <p:nvSpPr>
          <p:cNvPr id="17" name="texto-398"/>
          <p:cNvSpPr txBox="1"/>
          <p:nvPr/>
        </p:nvSpPr>
        <p:spPr>
          <a:xfrm>
            <a:off x="822960" y="4892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RLS no Supabase</a:t>
            </a:r>
            <a:endParaRPr lang="en-US" sz="1700" dirty="0"/>
          </a:p>
        </p:txBody>
      </p:sp>
      <p:sp>
        <p:nvSpPr>
          <p:cNvPr id="18" name="texto-399"/>
          <p:cNvSpPr txBox="1"/>
          <p:nvPr/>
        </p:nvSpPr>
        <p:spPr>
          <a:xfrm>
            <a:off x="822960" y="5239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utilizador só vê e apaga os seus próprios dados.</a:t>
            </a:r>
            <a:endParaRPr lang="en-US" sz="1400" dirty="0"/>
          </a:p>
        </p:txBody>
      </p:sp>
      <p:sp>
        <p:nvSpPr>
          <p:cNvPr id="19" name="cartao-400"/>
          <p:cNvSpPr/>
          <p:nvPr/>
        </p:nvSpPr>
        <p:spPr>
          <a:xfrm>
            <a:off x="4206240" y="3995928"/>
            <a:ext cx="3383280" cy="1984248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7D7B8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20" name="chip-401"/>
          <p:cNvSpPr/>
          <p:nvPr/>
        </p:nvSpPr>
        <p:spPr>
          <a:xfrm>
            <a:off x="4480560" y="4251960"/>
            <a:ext cx="530352" cy="530352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/>
        </p:spPr>
      </p:sp>
      <p:pic>
        <p:nvPicPr>
          <p:cNvPr id="21" name="Image 3" descr="shie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452" y="4389852"/>
            <a:ext cx="254569" cy="254569"/>
          </a:xfrm>
          <a:prstGeom prst="rect">
            <a:avLst/>
          </a:prstGeom>
        </p:spPr>
      </p:pic>
      <p:sp>
        <p:nvSpPr>
          <p:cNvPr id="22" name="texto-402"/>
          <p:cNvSpPr txBox="1"/>
          <p:nvPr/>
        </p:nvSpPr>
        <p:spPr>
          <a:xfrm>
            <a:off x="4480560" y="4892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Uploads controlados</a:t>
            </a:r>
            <a:endParaRPr lang="en-US" sz="1700" dirty="0"/>
          </a:p>
        </p:txBody>
      </p:sp>
      <p:sp>
        <p:nvSpPr>
          <p:cNvPr id="23" name="texto-403"/>
          <p:cNvSpPr txBox="1"/>
          <p:nvPr/>
        </p:nvSpPr>
        <p:spPr>
          <a:xfrm>
            <a:off x="4480560" y="5239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Limites de tamanho e de ficheiros; ZIP sem compressão e com nomes fixos.</a:t>
            </a:r>
            <a:endParaRPr lang="en-US" sz="1400" dirty="0"/>
          </a:p>
        </p:txBody>
      </p:sp>
      <p:sp>
        <p:nvSpPr>
          <p:cNvPr id="24" name="cartao-404"/>
          <p:cNvSpPr/>
          <p:nvPr/>
        </p:nvSpPr>
        <p:spPr>
          <a:xfrm>
            <a:off x="7909560" y="1737360"/>
            <a:ext cx="3733495" cy="4242816"/>
          </a:xfrm>
          <a:prstGeom prst="roundRect">
            <a:avLst>
              <a:gd name="adj" fmla="val 3429"/>
            </a:avLst>
          </a:prstGeom>
          <a:solidFill>
            <a:srgbClr val="241811"/>
          </a:solidFill>
          <a:ln w="9525">
            <a:solidFill>
              <a:srgbClr val="3D2C20"/>
            </a:solidFill>
            <a:prstDash val="solid"/>
          </a:ln>
          <a:effectLst>
            <a:outerShdw blurRad="127000" dist="38100" dir="5400000" algn="bl" rotWithShape="0">
              <a:srgbClr val="783C0A">
                <a:alpha val="14000"/>
              </a:srgbClr>
            </a:outerShdw>
          </a:effectLst>
        </p:spPr>
      </p:sp>
      <p:sp>
        <p:nvSpPr>
          <p:cNvPr id="25" name="texto-405"/>
          <p:cNvSpPr txBox="1"/>
          <p:nvPr/>
        </p:nvSpPr>
        <p:spPr>
          <a:xfrm>
            <a:off x="8321040" y="2011680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2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</a:t>
            </a:r>
            <a:endParaRPr lang="en-US" sz="4800" dirty="0"/>
          </a:p>
        </p:txBody>
      </p:sp>
      <p:sp>
        <p:nvSpPr>
          <p:cNvPr id="26" name="texto-406"/>
          <p:cNvSpPr txBox="1"/>
          <p:nvPr/>
        </p:nvSpPr>
        <p:spPr>
          <a:xfrm>
            <a:off x="8321040" y="278892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79D"/>
                </a:solidFill>
              </a:rPr>
              <a:t>testes no backend (pytest)</a:t>
            </a:r>
            <a:endParaRPr lang="en-US" sz="1400" dirty="0"/>
          </a:p>
        </p:txBody>
      </p:sp>
      <p:sp>
        <p:nvSpPr>
          <p:cNvPr id="27" name="texto-407"/>
          <p:cNvSpPr txBox="1"/>
          <p:nvPr/>
        </p:nvSpPr>
        <p:spPr>
          <a:xfrm>
            <a:off x="8321040" y="3383280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2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4800" dirty="0"/>
          </a:p>
        </p:txBody>
      </p:sp>
      <p:sp>
        <p:nvSpPr>
          <p:cNvPr id="28" name="texto-408"/>
          <p:cNvSpPr txBox="1"/>
          <p:nvPr/>
        </p:nvSpPr>
        <p:spPr>
          <a:xfrm>
            <a:off x="8321040" y="416052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79D"/>
                </a:solidFill>
              </a:rPr>
              <a:t>testes no frontend (Vitest)</a:t>
            </a:r>
            <a:endParaRPr lang="en-US" sz="1400" dirty="0"/>
          </a:p>
        </p:txBody>
      </p:sp>
      <p:sp>
        <p:nvSpPr>
          <p:cNvPr id="29" name="texto-409"/>
          <p:cNvSpPr txBox="1"/>
          <p:nvPr/>
        </p:nvSpPr>
        <p:spPr>
          <a:xfrm>
            <a:off x="8321040" y="4754880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2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30" name="texto-410"/>
          <p:cNvSpPr txBox="1"/>
          <p:nvPr/>
        </p:nvSpPr>
        <p:spPr>
          <a:xfrm>
            <a:off x="8321040" y="553212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79D"/>
                </a:solidFill>
              </a:rPr>
              <a:t>falhas na última execução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44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lho"/>
          <p:cNvSpPr/>
          <p:nvPr/>
        </p:nvSpPr>
        <p:spPr>
          <a:xfrm>
            <a:off x="4495648" y="685800"/>
            <a:ext cx="3200400" cy="32004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circulo-logo"/>
          <p:cNvSpPr/>
          <p:nvPr/>
        </p:nvSpPr>
        <p:spPr>
          <a:xfrm>
            <a:off x="4815688" y="1005840"/>
            <a:ext cx="2560320" cy="25603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Image 0" descr="Logótipo InvisioM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655064"/>
            <a:ext cx="1737360" cy="1262351"/>
          </a:xfrm>
          <a:prstGeom prst="rect">
            <a:avLst/>
          </a:prstGeom>
        </p:spPr>
      </p:pic>
      <p:sp>
        <p:nvSpPr>
          <p:cNvPr id="5" name="texto-424"/>
          <p:cNvSpPr txBox="1"/>
          <p:nvPr/>
        </p:nvSpPr>
        <p:spPr>
          <a:xfrm>
            <a:off x="914400" y="40690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EE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6" name="texto-425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2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Perguntas?</a:t>
            </a:r>
            <a:endParaRPr lang="en-US" sz="2400" dirty="0"/>
          </a:p>
        </p:txBody>
      </p:sp>
      <p:sp>
        <p:nvSpPr>
          <p:cNvPr id="7" name="texto-426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B79D"/>
                </a:solidFill>
              </a:rPr>
              <a:t>Ashley Malate  ·  Marlon Nhantumbo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isioMZ">
  <a:themeElements>
    <a:clrScheme name="InvisioMZ">
      <a:dk1>
        <a:srgbClr val="2B1B0F"/>
      </a:dk1>
      <a:lt1>
        <a:srgbClr val="FFFBF2"/>
      </a:lt1>
      <a:dk2>
        <a:srgbClr val="1A120C"/>
      </a:dk2>
      <a:lt2>
        <a:srgbClr val="FBF4E6"/>
      </a:lt2>
      <a:accent1>
        <a:srgbClr val="C4560C"/>
      </a:accent1>
      <a:accent2>
        <a:srgbClr val="F08828"/>
      </a:accent2>
      <a:accent3>
        <a:srgbClr val="9A3F05"/>
      </a:accent3>
      <a:accent4>
        <a:srgbClr val="FCE6CD"/>
      </a:accent4>
      <a:accent5>
        <a:srgbClr val="6B5441"/>
      </a:accent5>
      <a:accent6>
        <a:srgbClr val="3F6B2F"/>
      </a:accent6>
      <a:hlink>
        <a:srgbClr val="9A3F05"/>
      </a:hlink>
      <a:folHlink>
        <a:srgbClr val="6B5441"/>
      </a:folHlink>
    </a:clrScheme>
    <a:fontScheme name="InvisioMZ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1213</Words>
  <Application>Microsoft Office PowerPoint</Application>
  <PresentationFormat>Ecrã Panorâmico</PresentationFormat>
  <Paragraphs>164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InvisioMZ</vt:lpstr>
      <vt:lpstr>Apresentação do PowerPoint</vt:lpstr>
      <vt:lpstr>Esteganografia ≠ criptografia</vt:lpstr>
      <vt:lpstr>Ferramentas usadas</vt:lpstr>
      <vt:lpstr>Arquitectura do sistema</vt:lpstr>
      <vt:lpstr>Organização do código</vt:lpstr>
      <vt:lpstr>Ocultar, em cinco passos</vt:lpstr>
      <vt:lpstr>Segurança e testes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InvisioMZ · Esteganografia</dc:title>
  <dc:subject>Esteganografia LSB com AES-256-GCM</dc:subject>
  <dc:creator>Ashley Malate e Marlon Nhantumbo</dc:creator>
  <cp:lastModifiedBy>ashley da amena Malate</cp:lastModifiedBy>
  <cp:revision>2</cp:revision>
  <dcterms:created xsi:type="dcterms:W3CDTF">2026-10-26T07:50:42Z</dcterms:created>
  <dcterms:modified xsi:type="dcterms:W3CDTF">2026-10-26T08:08:20Z</dcterms:modified>
</cp:coreProperties>
</file>